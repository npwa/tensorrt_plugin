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ms per request</c:v>
                </c:pt>
              </c:strCache>
            </c:strRef>
          </c:tx>
          <c:spPr>
            <a:solidFill>
              <a:srgbClr val="1C7293"/>
            </a:solidFill>
            <a:effectLst/>
          </c:spPr>
          <c:invertIfNegative val="0"/>
          <c:dLbls>
            <c:numFmt formatCode="0.0000" sourceLinked="0"/>
            <c:txPr>
              <a:bodyPr/>
              <a:lstStyle/>
              <a:p>
                <a:pPr>
                  <a:defRPr b="0" i="0" strike="noStrike" sz="1200" u="none">
                    <a:solidFill>
                      <a:srgbClr val="16232E"/>
                    </a:solidFill>
                    <a:latin typeface="Arial"/>
                  </a:defRPr>
                </a:pPr>
              </a:p>
            </c:txPr>
            <c:showLegendKey val="0"/>
            <c:showVal val="1"/>
            <c:showCatName val="0"/>
            <c:showSerName val="0"/>
            <c:showPercent val="0"/>
            <c:showBubbleSize val="0"/>
            <c:showLeaderLines val="0"/>
          </c:dLbls>
          <c:dPt>
            <c:idx val="0"/>
            <c:invertIfNegative val="0"/>
            <c:bubble3D val="0"/>
            <c:spPr>
              <a:solidFill>
                <a:srgbClr val="1C7293"/>
              </a:solidFill>
              <a:effectLst/>
            </c:spPr>
          </c:dPt>
          <c:dPt>
            <c:idx val="1"/>
            <c:invertIfNegative val="0"/>
            <c:bubble3D val="0"/>
            <c:spPr>
              <a:solidFill>
                <a:srgbClr val="1C7293"/>
              </a:solidFill>
              <a:effectLst/>
            </c:spPr>
          </c:dPt>
          <c:dPt>
            <c:idx val="2"/>
            <c:invertIfNegative val="0"/>
            <c:bubble3D val="0"/>
            <c:spPr>
              <a:solidFill>
                <a:srgbClr val="F2A93B"/>
              </a:solidFill>
              <a:effectLst/>
            </c:spPr>
          </c:dPt>
          <c:dPt>
            <c:idx val="3"/>
            <c:invertIfNegative val="0"/>
            <c:bubble3D val="0"/>
            <c:spPr>
              <a:solidFill>
                <a:srgbClr val="F2A93B"/>
              </a:solidFill>
              <a:effectLst/>
            </c:spPr>
          </c:dPt>
          <c:cat>
            <c:multiLvlStrRef>
              <c:f>Sheet1!$A$2:$A$5</c:f>
              <c:multiLvlStrCache>
                <c:ptCount val="4"/>
                <c:lvl>
                  <c:pt idx="0">
                    <c:v>PyTorch
eager</c:v>
                  </c:pt>
                  <c:pt idx="1">
                    <c:v>torch.compile</c:v>
                  </c:pt>
                  <c:pt idx="2">
                    <c:v>Standalone
CUDA kernel</c:v>
                  </c:pt>
                  <c:pt idx="3">
                    <c:v>TensorRT
engine</c:v>
                  </c:pt>
                </c:lvl>
              </c:multiLvlStrCache>
            </c:multiLvlStrRef>
          </c:cat>
          <c:val>
            <c:numRef>
              <c:f>Sheet1!$B$2:$B$5</c:f>
              <c:numCache>
                <c:formatCode>General</c:formatCode>
                <c:ptCount val="4"/>
                <c:pt idx="0">
                  <c:v>0.6778</c:v>
                </c:pt>
                <c:pt idx="1">
                  <c:v>0.1647</c:v>
                </c:pt>
                <c:pt idx="2">
                  <c:v>0.0759</c:v>
                </c:pt>
                <c:pt idx="3">
                  <c:v>0.0768</c:v>
                </c:pt>
              </c:numCache>
            </c:numRef>
          </c:val>
        </c:ser>
        <c:dLbls>
          <c:numFmt formatCode="0.0000" sourceLinked="0"/>
          <c:txPr>
            <a:bodyPr/>
            <a:lstStyle/>
            <a:p>
              <a:pPr>
                <a:defRPr b="0" i="0" strike="noStrike" sz="1200" u="none">
                  <a:solidFill>
                    <a:srgbClr val="16232E"/>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6232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1E7ED"/>
              </a:solidFill>
              <a:prstDash val="solid"/>
              <a:round/>
            </a:ln>
          </c:spPr>
        </c:majorGridlines>
        <c:title>
          <c:tx>
            <c:rich>
              <a:bodyPr/>
              <a:lstStyle/>
              <a:p>
                <a:pPr>
                  <a:defRPr sz="1100" b="0" i="0" u="none" strike="noStrike">
                    <a:solidFill>
                      <a:srgbClr val="5B6B7A"/>
                    </a:solidFill>
                    <a:latin typeface="Arial"/>
                  </a:defRPr>
                </a:pPr>
                <a:r>
                  <a:rPr sz="1100" b="0" i="0" u="none" strike="noStrike">
                    <a:solidFill>
                      <a:srgbClr val="5B6B7A"/>
                    </a:solidFill>
                    <a:latin typeface="Arial"/>
                  </a:rPr>
                  <a:t>Milliseconds per request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Requests / second</c:v>
                </c:pt>
              </c:strCache>
            </c:strRef>
          </c:tx>
          <c:spPr>
            <a:solidFill>
              <a:srgbClr val="1C7293"/>
            </a:solidFill>
            <a:effectLst/>
          </c:spPr>
          <c:invertIfNegative val="0"/>
          <c:dLbls>
            <c:numFmt formatCode="#,##0" sourceLinked="0"/>
            <c:txPr>
              <a:bodyPr/>
              <a:lstStyle/>
              <a:p>
                <a:pPr>
                  <a:defRPr b="0" i="0" strike="noStrike" sz="1200" u="none">
                    <a:solidFill>
                      <a:srgbClr val="16232E"/>
                    </a:solidFill>
                    <a:latin typeface="Arial"/>
                  </a:defRPr>
                </a:pPr>
              </a:p>
            </c:txPr>
            <c:showLegendKey val="0"/>
            <c:showVal val="1"/>
            <c:showCatName val="0"/>
            <c:showSerName val="0"/>
            <c:showPercent val="0"/>
            <c:showBubbleSize val="0"/>
            <c:showLeaderLines val="0"/>
          </c:dLbls>
          <c:dPt>
            <c:idx val="0"/>
            <c:invertIfNegative val="0"/>
            <c:bubble3D val="0"/>
            <c:spPr>
              <a:solidFill>
                <a:srgbClr val="1C7293"/>
              </a:solidFill>
              <a:effectLst/>
            </c:spPr>
          </c:dPt>
          <c:dPt>
            <c:idx val="1"/>
            <c:invertIfNegative val="0"/>
            <c:bubble3D val="0"/>
            <c:spPr>
              <a:solidFill>
                <a:srgbClr val="F2A93B"/>
              </a:solidFill>
              <a:effectLst/>
            </c:spPr>
          </c:dPt>
          <c:dPt>
            <c:idx val="2"/>
            <c:invertIfNegative val="0"/>
            <c:bubble3D val="0"/>
            <c:spPr>
              <a:solidFill>
                <a:srgbClr val="F2A93B"/>
              </a:solidFill>
              <a:effectLst/>
            </c:spPr>
          </c:dPt>
          <c:cat>
            <c:multiLvlStrRef>
              <c:f>Sheet1!$A$2:$A$4</c:f>
              <c:multiLvlStrCache>
                <c:ptCount val="3"/>
                <c:lvl>
                  <c:pt idx="0">
                    <c:v>1 stream
(fully serial)</c:v>
                  </c:pt>
                  <c:pt idx="1">
                    <c:v>4 streams</c:v>
                  </c:pt>
                  <c:pt idx="2">
                    <c:v>8 streams</c:v>
                  </c:pt>
                </c:lvl>
              </c:multiLvlStrCache>
            </c:multiLvlStrRef>
          </c:cat>
          <c:val>
            <c:numRef>
              <c:f>Sheet1!$B$2:$B$4</c:f>
              <c:numCache>
                <c:formatCode>General</c:formatCode>
                <c:ptCount val="3"/>
                <c:pt idx="0">
                  <c:v>13016.9</c:v>
                </c:pt>
                <c:pt idx="1">
                  <c:v>17873.9</c:v>
                </c:pt>
                <c:pt idx="2">
                  <c:v>17633.7</c:v>
                </c:pt>
              </c:numCache>
            </c:numRef>
          </c:val>
        </c:ser>
        <c:dLbls>
          <c:numFmt formatCode="#,##0" sourceLinked="0"/>
          <c:txPr>
            <a:bodyPr/>
            <a:lstStyle/>
            <a:p>
              <a:pPr>
                <a:defRPr b="0" i="0" strike="noStrike" sz="1200" u="none">
                  <a:solidFill>
                    <a:srgbClr val="16232E"/>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6232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1E7ED"/>
              </a:solidFill>
              <a:prstDash val="solid"/>
              <a:round/>
            </a:ln>
          </c:spPr>
        </c:majorGridlines>
        <c:title>
          <c:tx>
            <c:rich>
              <a:bodyPr/>
              <a:lstStyle/>
              <a:p>
                <a:pPr>
                  <a:defRPr sz="1100" b="0" i="0" u="none" strike="noStrike">
                    <a:solidFill>
                      <a:srgbClr val="5B6B7A"/>
                    </a:solidFill>
                    <a:latin typeface="Arial"/>
                  </a:defRPr>
                </a:pPr>
                <a:r>
                  <a:rPr sz="1100" b="0" i="0" u="none" strike="noStrike">
                    <a:solidFill>
                      <a:srgbClr val="5B6B7A"/>
                    </a:solidFill>
                    <a:latin typeface="Arial"/>
                  </a:rPr>
                  <a:t>Requests per second (throughput)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038"/>
        </a:solidFill>
      </p:bgPr>
    </p:bg>
    <p:spTree>
      <p:nvGrpSpPr>
        <p:cNvPr id="1" name=""/>
        <p:cNvGrpSpPr/>
        <p:nvPr/>
      </p:nvGrpSpPr>
      <p:grpSpPr>
        <a:xfrm>
          <a:off x="0" y="0"/>
          <a:ext cx="0" cy="0"/>
          <a:chOff x="0" y="0"/>
          <a:chExt cx="0" cy="0"/>
        </a:xfrm>
      </p:grpSpPr>
      <p:sp>
        <p:nvSpPr>
          <p:cNvPr id="2" name="Shape 0"/>
          <p:cNvSpPr/>
          <p:nvPr/>
        </p:nvSpPr>
        <p:spPr>
          <a:xfrm>
            <a:off x="9052560" y="-1463040"/>
            <a:ext cx="4754880" cy="4754880"/>
          </a:xfrm>
          <a:prstGeom prst="ellipse">
            <a:avLst/>
          </a:prstGeom>
          <a:solidFill>
            <a:srgbClr val="1C7293">
              <a:alpha val="22000"/>
            </a:srgbClr>
          </a:solidFill>
          <a:ln/>
        </p:spPr>
      </p:sp>
      <p:sp>
        <p:nvSpPr>
          <p:cNvPr id="3" name="Shape 1"/>
          <p:cNvSpPr/>
          <p:nvPr/>
        </p:nvSpPr>
        <p:spPr>
          <a:xfrm>
            <a:off x="502920" y="1417320"/>
            <a:ext cx="777240" cy="777240"/>
          </a:xfrm>
          <a:prstGeom prst="ellipse">
            <a:avLst/>
          </a:prstGeom>
          <a:solidFill>
            <a:srgbClr val="1C7293"/>
          </a:solidFill>
          <a:ln/>
        </p:spPr>
      </p:sp>
      <p:pic>
        <p:nvPicPr>
          <p:cNvPr id="4" name="Image 0" descr="/tmp/claude-1001/-home-npalmass-work-Evol-inference/a73e848c-9ae9-41bb-8cca-4eccbf875541/scratchpad/tensorrt_deck/icon_chip.png">    </p:cNvPr>
          <p:cNvPicPr>
            <a:picLocks noChangeAspect="1"/>
          </p:cNvPicPr>
          <p:nvPr/>
        </p:nvPicPr>
        <p:blipFill>
          <a:blip r:embed="rId1"/>
          <a:stretch>
            <a:fillRect/>
          </a:stretch>
        </p:blipFill>
        <p:spPr>
          <a:xfrm>
            <a:off x="689458" y="1603858"/>
            <a:ext cx="404165" cy="404165"/>
          </a:xfrm>
          <a:prstGeom prst="rect">
            <a:avLst/>
          </a:prstGeom>
        </p:spPr>
      </p:pic>
      <p:sp>
        <p:nvSpPr>
          <p:cNvPr id="5" name="Text 2"/>
          <p:cNvSpPr txBox="1"/>
          <p:nvPr/>
        </p:nvSpPr>
        <p:spPr>
          <a:xfrm>
            <a:off x="502920" y="2331720"/>
            <a:ext cx="9144000" cy="320040"/>
          </a:xfrm>
          <a:prstGeom prst="rect">
            <a:avLst/>
          </a:prstGeom>
          <a:noFill/>
          <a:ln/>
        </p:spPr>
        <p:txBody>
          <a:bodyPr wrap="square" lIns="0" tIns="0" rIns="0" bIns="0" rtlCol="0" anchor="ctr"/>
          <a:lstStyle/>
          <a:p>
            <a:pPr indent="0" marL="0">
              <a:buNone/>
            </a:pPr>
            <a:r>
              <a:rPr lang="en-US" sz="1400" b="1" spc="300" kern="0" dirty="0">
                <a:solidFill>
                  <a:srgbClr val="F2A93B"/>
                </a:solidFill>
                <a:latin typeface="Calibri" pitchFamily="34" charset="0"/>
                <a:ea typeface="Calibri" pitchFamily="34" charset="-122"/>
                <a:cs typeface="Calibri" pitchFamily="34" charset="-120"/>
              </a:rPr>
              <a:t>ENGINEERING RESULTS OVERVIEW</a:t>
            </a:r>
            <a:endParaRPr lang="en-US" sz="1400" dirty="0"/>
          </a:p>
        </p:txBody>
      </p:sp>
      <p:sp>
        <p:nvSpPr>
          <p:cNvPr id="6" name="Text 3"/>
          <p:cNvSpPr txBox="1"/>
          <p:nvPr/>
        </p:nvSpPr>
        <p:spPr>
          <a:xfrm>
            <a:off x="502920" y="2697480"/>
            <a:ext cx="1097280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Making LLM Inference Faster</a:t>
            </a:r>
            <a:endParaRPr lang="en-US" sz="4400" dirty="0"/>
          </a:p>
        </p:txBody>
      </p:sp>
      <p:sp>
        <p:nvSpPr>
          <p:cNvPr id="7" name="Text 4"/>
          <p:cNvSpPr txBox="1"/>
          <p:nvPr/>
        </p:nvSpPr>
        <p:spPr>
          <a:xfrm>
            <a:off x="502920" y="3611880"/>
            <a:ext cx="9692640" cy="640080"/>
          </a:xfrm>
          <a:prstGeom prst="rect">
            <a:avLst/>
          </a:prstGeom>
          <a:noFill/>
          <a:ln/>
        </p:spPr>
        <p:txBody>
          <a:bodyPr wrap="square" lIns="0" tIns="0" rIns="0" bIns="0" rtlCol="0" anchor="ctr"/>
          <a:lstStyle/>
          <a:p>
            <a:pPr indent="0" marL="0">
              <a:buNone/>
            </a:pPr>
            <a:r>
              <a:rPr lang="en-US" sz="1700" dirty="0">
                <a:solidFill>
                  <a:srgbClr val="D7E1EA"/>
                </a:solidFill>
                <a:latin typeface="Calibri" pitchFamily="34" charset="0"/>
                <a:ea typeface="Calibri" pitchFamily="34" charset="-122"/>
                <a:cs typeface="Calibri" pitchFamily="34" charset="-120"/>
              </a:rPr>
              <a:t>A hand-written GPU kernel, wrapped for production — explained for a general audience, with the real, measured numbers</a:t>
            </a:r>
            <a:endParaRPr lang="en-US" sz="1700" dirty="0"/>
          </a:p>
        </p:txBody>
      </p:sp>
      <p:sp>
        <p:nvSpPr>
          <p:cNvPr id="8" name="Text 5"/>
          <p:cNvSpPr txBox="1"/>
          <p:nvPr/>
        </p:nvSpPr>
        <p:spPr>
          <a:xfrm>
            <a:off x="502920" y="6035040"/>
            <a:ext cx="10058400" cy="320040"/>
          </a:xfrm>
          <a:prstGeom prst="rect">
            <a:avLst/>
          </a:prstGeom>
          <a:noFill/>
          <a:ln/>
        </p:spPr>
        <p:txBody>
          <a:bodyPr wrap="square" lIns="0" tIns="0" rIns="0" bIns="0" rtlCol="0" anchor="ctr"/>
          <a:lstStyle/>
          <a:p>
            <a:pPr indent="0" marL="0">
              <a:buNone/>
            </a:pPr>
            <a:r>
              <a:rPr lang="en-US" sz="1200" dirty="0">
                <a:solidFill>
                  <a:srgbClr val="8FA2B3"/>
                </a:solidFill>
                <a:latin typeface="Calibri" pitchFamily="34" charset="0"/>
                <a:ea typeface="Calibri" pitchFamily="34" charset="-122"/>
                <a:cs typeface="Calibri" pitchFamily="34" charset="-120"/>
              </a:rPr>
              <a:t>Model: Phi-3-mini-4k-instruct    •    GPU: NVIDIA RTX 3080    •    Project: TensorRT_plugin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C7293"/>
          </a:solidFill>
          <a:ln/>
        </p:spPr>
      </p:sp>
      <p:pic>
        <p:nvPicPr>
          <p:cNvPr id="3" name="Image 0" descr="/tmp/claude-1001/-home-npalmass-work-Evol-inference/a73e848c-9ae9-41bb-8cca-4eccbf875541/scratchpad/tensorrt_deck/icon_brain.png">    </p:cNvPr>
          <p:cNvPicPr>
            <a:picLocks noChangeAspect="1"/>
          </p:cNvPicPr>
          <p:nvPr/>
        </p:nvPicPr>
        <p:blipFill>
          <a:blip r:embed="rId1"/>
          <a:stretch>
            <a:fillRect/>
          </a:stretch>
        </p:blipFill>
        <p:spPr>
          <a:xfrm>
            <a:off x="638983" y="520111"/>
            <a:ext cx="294803" cy="294803"/>
          </a:xfrm>
          <a:prstGeom prst="rect">
            <a:avLst/>
          </a:prstGeom>
        </p:spPr>
      </p:pic>
      <p:sp>
        <p:nvSpPr>
          <p:cNvPr id="4" name="Text 1"/>
          <p:cNvSpPr txBox="1"/>
          <p:nvPr/>
        </p:nvSpPr>
        <p:spPr>
          <a:xfrm>
            <a:off x="1252728" y="384048"/>
            <a:ext cx="10436047" cy="256032"/>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BIG PICTURE</a:t>
            </a:r>
            <a:endParaRPr lang="en-US" sz="1200" dirty="0"/>
          </a:p>
        </p:txBody>
      </p:sp>
      <p:sp>
        <p:nvSpPr>
          <p:cNvPr id="5" name="Text 2"/>
          <p:cNvSpPr txBox="1"/>
          <p:nvPr/>
        </p:nvSpPr>
        <p:spPr>
          <a:xfrm>
            <a:off x="1252728" y="621792"/>
            <a:ext cx="10436047" cy="457200"/>
          </a:xfrm>
          <a:prstGeom prst="rect">
            <a:avLst/>
          </a:prstGeom>
          <a:noFill/>
          <a:ln/>
        </p:spPr>
        <p:txBody>
          <a:bodyPr wrap="square" lIns="0" tIns="0" rIns="0" bIns="0" rtlCol="0" anchor="ctr"/>
          <a:lstStyle/>
          <a:p>
            <a:pPr indent="0" marL="0">
              <a:buNone/>
            </a:pPr>
            <a:r>
              <a:rPr lang="en-US" sz="3000" b="1" dirty="0">
                <a:solidFill>
                  <a:srgbClr val="0B2038"/>
                </a:solidFill>
                <a:latin typeface="Cambria" pitchFamily="34" charset="0"/>
                <a:ea typeface="Cambria" pitchFamily="34" charset="-122"/>
                <a:cs typeface="Cambria" pitchFamily="34" charset="-120"/>
              </a:rPr>
              <a:t>What Happens When You Chat With an AI?</a:t>
            </a:r>
            <a:endParaRPr lang="en-US" sz="3000" dirty="0"/>
          </a:p>
        </p:txBody>
      </p:sp>
      <p:sp>
        <p:nvSpPr>
          <p:cNvPr id="6" name="Shape 3"/>
          <p:cNvSpPr/>
          <p:nvPr/>
        </p:nvSpPr>
        <p:spPr>
          <a:xfrm>
            <a:off x="502920" y="1600200"/>
            <a:ext cx="5257800" cy="3977640"/>
          </a:xfrm>
          <a:prstGeom prst="roundRect">
            <a:avLst>
              <a:gd name="adj" fmla="val 1839"/>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7" name="Shape 4"/>
          <p:cNvSpPr/>
          <p:nvPr/>
        </p:nvSpPr>
        <p:spPr>
          <a:xfrm>
            <a:off x="777240" y="1874520"/>
            <a:ext cx="502920" cy="502920"/>
          </a:xfrm>
          <a:prstGeom prst="ellipse">
            <a:avLst/>
          </a:prstGeom>
          <a:solidFill>
            <a:srgbClr val="1C7293"/>
          </a:solidFill>
          <a:ln/>
        </p:spPr>
      </p:sp>
      <p:pic>
        <p:nvPicPr>
          <p:cNvPr id="8" name="Image 1" descr="/tmp/claude-1001/-home-npalmass-work-Evol-inference/a73e848c-9ae9-41bb-8cca-4eccbf875541/scratchpad/tensorrt_deck/icon_brain.png">    </p:cNvPr>
          <p:cNvPicPr>
            <a:picLocks noChangeAspect="1"/>
          </p:cNvPicPr>
          <p:nvPr/>
        </p:nvPicPr>
        <p:blipFill>
          <a:blip r:embed="rId2"/>
          <a:stretch>
            <a:fillRect/>
          </a:stretch>
        </p:blipFill>
        <p:spPr>
          <a:xfrm>
            <a:off x="897941" y="1995221"/>
            <a:ext cx="261518" cy="261518"/>
          </a:xfrm>
          <a:prstGeom prst="rect">
            <a:avLst/>
          </a:prstGeom>
        </p:spPr>
      </p:pic>
      <p:sp>
        <p:nvSpPr>
          <p:cNvPr id="9" name="Text 5"/>
          <p:cNvSpPr txBox="1"/>
          <p:nvPr/>
        </p:nvSpPr>
        <p:spPr>
          <a:xfrm>
            <a:off x="1417320" y="1856232"/>
            <a:ext cx="4069080" cy="457200"/>
          </a:xfrm>
          <a:prstGeom prst="rect">
            <a:avLst/>
          </a:prstGeom>
          <a:noFill/>
          <a:ln/>
        </p:spPr>
        <p:txBody>
          <a:bodyPr wrap="square" lIns="0" tIns="0" rIns="0" bIns="0" rtlCol="0" anchor="ctr"/>
          <a:lstStyle/>
          <a:p>
            <a:pPr indent="0" marL="0">
              <a:buNone/>
            </a:pPr>
            <a:r>
              <a:rPr lang="en-US" sz="1700" b="1" dirty="0">
                <a:solidFill>
                  <a:srgbClr val="0B2038"/>
                </a:solidFill>
                <a:latin typeface="Cambria" pitchFamily="34" charset="0"/>
                <a:ea typeface="Cambria" pitchFamily="34" charset="-122"/>
                <a:cs typeface="Cambria" pitchFamily="34" charset="-120"/>
              </a:rPr>
              <a:t>A Language Model Is a Giant Math Machine</a:t>
            </a:r>
            <a:endParaRPr lang="en-US" sz="1700" dirty="0"/>
          </a:p>
        </p:txBody>
      </p:sp>
      <p:sp>
        <p:nvSpPr>
          <p:cNvPr id="10" name="Text 6"/>
          <p:cNvSpPr txBox="1"/>
          <p:nvPr/>
        </p:nvSpPr>
        <p:spPr>
          <a:xfrm>
            <a:off x="777240" y="2468880"/>
            <a:ext cx="4709160" cy="2880360"/>
          </a:xfrm>
          <a:prstGeom prst="rect">
            <a:avLst/>
          </a:prstGeom>
          <a:noFill/>
          <a:ln/>
        </p:spPr>
        <p:txBody>
          <a:bodyPr wrap="square" lIns="0" tIns="0" rIns="0" bIns="0" rtlCol="0" anchor="t"/>
          <a:lstStyle/>
          <a:p>
            <a:pPr indent="0" marL="0">
              <a:lnSpc>
                <a:spcPct val="115000"/>
              </a:lnSpc>
              <a:buNone/>
            </a:pPr>
            <a:r>
              <a:rPr lang="en-US" sz="1300" dirty="0">
                <a:solidFill>
                  <a:srgbClr val="16232E"/>
                </a:solidFill>
                <a:latin typeface="Calibri" pitchFamily="34" charset="0"/>
                <a:ea typeface="Calibri" pitchFamily="34" charset="-122"/>
                <a:cs typeface="Calibri" pitchFamily="34" charset="-120"/>
              </a:rPr>
              <a:t>A large language model (LLM) turns your text into a huge list of numbers, then runs those numbers through billions of simple multiply-and-add calculations to predict the next word, one piece at a time. It has no "understanding" module — it is calculation, repeated at enormous scale.</a:t>
            </a:r>
            <a:endParaRPr lang="en-US" sz="1300" dirty="0"/>
          </a:p>
        </p:txBody>
      </p:sp>
      <p:sp>
        <p:nvSpPr>
          <p:cNvPr id="11" name="Shape 7"/>
          <p:cNvSpPr/>
          <p:nvPr/>
        </p:nvSpPr>
        <p:spPr>
          <a:xfrm>
            <a:off x="6080760" y="1600200"/>
            <a:ext cx="5257800" cy="3977640"/>
          </a:xfrm>
          <a:prstGeom prst="roundRect">
            <a:avLst>
              <a:gd name="adj" fmla="val 1839"/>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12" name="Shape 8"/>
          <p:cNvSpPr/>
          <p:nvPr/>
        </p:nvSpPr>
        <p:spPr>
          <a:xfrm>
            <a:off x="6355080" y="1874520"/>
            <a:ext cx="502920" cy="502920"/>
          </a:xfrm>
          <a:prstGeom prst="ellipse">
            <a:avLst/>
          </a:prstGeom>
          <a:solidFill>
            <a:srgbClr val="F2A93B"/>
          </a:solidFill>
          <a:ln/>
        </p:spPr>
      </p:sp>
      <p:pic>
        <p:nvPicPr>
          <p:cNvPr id="13" name="Image 2" descr="/tmp/claude-1001/-home-npalmass-work-Evol-inference/a73e848c-9ae9-41bb-8cca-4eccbf875541/scratchpad/tensorrt_deck/icon_bolt.png">    </p:cNvPr>
          <p:cNvPicPr>
            <a:picLocks noChangeAspect="1"/>
          </p:cNvPicPr>
          <p:nvPr/>
        </p:nvPicPr>
        <p:blipFill>
          <a:blip r:embed="rId3"/>
          <a:stretch>
            <a:fillRect/>
          </a:stretch>
        </p:blipFill>
        <p:spPr>
          <a:xfrm>
            <a:off x="6475781" y="1995221"/>
            <a:ext cx="261518" cy="261518"/>
          </a:xfrm>
          <a:prstGeom prst="rect">
            <a:avLst/>
          </a:prstGeom>
        </p:spPr>
      </p:pic>
      <p:sp>
        <p:nvSpPr>
          <p:cNvPr id="14" name="Text 9"/>
          <p:cNvSpPr txBox="1"/>
          <p:nvPr/>
        </p:nvSpPr>
        <p:spPr>
          <a:xfrm>
            <a:off x="6995160" y="1856232"/>
            <a:ext cx="4069080" cy="457200"/>
          </a:xfrm>
          <a:prstGeom prst="rect">
            <a:avLst/>
          </a:prstGeom>
          <a:noFill/>
          <a:ln/>
        </p:spPr>
        <p:txBody>
          <a:bodyPr wrap="square" lIns="0" tIns="0" rIns="0" bIns="0" rtlCol="0" anchor="ctr"/>
          <a:lstStyle/>
          <a:p>
            <a:pPr indent="0" marL="0">
              <a:buNone/>
            </a:pPr>
            <a:r>
              <a:rPr lang="en-US" sz="1700" b="1" dirty="0">
                <a:solidFill>
                  <a:srgbClr val="0B2038"/>
                </a:solidFill>
                <a:latin typeface="Cambria" pitchFamily="34" charset="0"/>
                <a:ea typeface="Cambria" pitchFamily="34" charset="-122"/>
                <a:cs typeface="Cambria" pitchFamily="34" charset="-120"/>
              </a:rPr>
              <a:t>Why It Needs a GPU, Not Just a CPU</a:t>
            </a:r>
            <a:endParaRPr lang="en-US" sz="1700" dirty="0"/>
          </a:p>
        </p:txBody>
      </p:sp>
      <p:sp>
        <p:nvSpPr>
          <p:cNvPr id="15" name="Text 10"/>
          <p:cNvSpPr txBox="1"/>
          <p:nvPr/>
        </p:nvSpPr>
        <p:spPr>
          <a:xfrm>
            <a:off x="6355080" y="2468880"/>
            <a:ext cx="4709160" cy="2880360"/>
          </a:xfrm>
          <a:prstGeom prst="rect">
            <a:avLst/>
          </a:prstGeom>
          <a:noFill/>
          <a:ln/>
        </p:spPr>
        <p:txBody>
          <a:bodyPr wrap="square" lIns="0" tIns="0" rIns="0" bIns="0" rtlCol="0" anchor="t"/>
          <a:lstStyle/>
          <a:p>
            <a:pPr indent="0" marL="0">
              <a:lnSpc>
                <a:spcPct val="115000"/>
              </a:lnSpc>
              <a:buNone/>
            </a:pPr>
            <a:r>
              <a:rPr lang="en-US" sz="1300" dirty="0">
                <a:solidFill>
                  <a:srgbClr val="16232E"/>
                </a:solidFill>
                <a:latin typeface="Calibri" pitchFamily="34" charset="0"/>
                <a:ea typeface="Calibri" pitchFamily="34" charset="-122"/>
                <a:cs typeface="Calibri" pitchFamily="34" charset="-120"/>
              </a:rPr>
              <a:t>A CPU is like one highly skilled chef: fast and flexible, but working through tasks mostly one at a time. A GPU is like a kitchen with thousands of line cooks, each doing one simple, repeated step — perfect for the millions of small, identical multiplications an LLM needs, all at once.</a:t>
            </a:r>
            <a:endParaRPr lang="en-US" sz="1300" dirty="0"/>
          </a:p>
        </p:txBody>
      </p:sp>
      <p:sp>
        <p:nvSpPr>
          <p:cNvPr id="16" name="Text 11"/>
          <p:cNvSpPr txBox="1"/>
          <p:nvPr/>
        </p:nvSpPr>
        <p:spPr>
          <a:xfrm>
            <a:off x="502920" y="5760720"/>
            <a:ext cx="11155680" cy="457200"/>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This project is about making that GPU math run faster — without changing what the model predicts.</a:t>
            </a:r>
            <a:endParaRPr lang="en-US" sz="1400" dirty="0"/>
          </a:p>
        </p:txBody>
      </p:sp>
      <p:sp>
        <p:nvSpPr>
          <p:cNvPr id="17" name="Text 12"/>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TensorRT_plugin — Engineering Results Overview</a:t>
            </a:r>
            <a:endParaRPr lang="en-US" sz="1000" dirty="0"/>
          </a:p>
        </p:txBody>
      </p:sp>
      <p:sp>
        <p:nvSpPr>
          <p:cNvPr id="18" name="Text 13"/>
          <p:cNvSpPr txBox="1"/>
          <p:nvPr/>
        </p:nvSpPr>
        <p:spPr>
          <a:xfrm>
            <a:off x="11460175" y="6446520"/>
            <a:ext cx="4572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C7293"/>
          </a:solidFill>
          <a:ln/>
        </p:spPr>
      </p:sp>
      <p:pic>
        <p:nvPicPr>
          <p:cNvPr id="3" name="Image 0" descr="/tmp/claude-1001/-home-npalmass-work-Evol-inference/a73e848c-9ae9-41bb-8cca-4eccbf875541/scratchpad/tensorrt_deck/icon_layers.png">    </p:cNvPr>
          <p:cNvPicPr>
            <a:picLocks noChangeAspect="1"/>
          </p:cNvPicPr>
          <p:nvPr/>
        </p:nvPicPr>
        <p:blipFill>
          <a:blip r:embed="rId1"/>
          <a:stretch>
            <a:fillRect/>
          </a:stretch>
        </p:blipFill>
        <p:spPr>
          <a:xfrm>
            <a:off x="638983" y="520111"/>
            <a:ext cx="294803" cy="294803"/>
          </a:xfrm>
          <a:prstGeom prst="rect">
            <a:avLst/>
          </a:prstGeom>
        </p:spPr>
      </p:pic>
      <p:sp>
        <p:nvSpPr>
          <p:cNvPr id="4" name="Text 1"/>
          <p:cNvSpPr txBox="1"/>
          <p:nvPr/>
        </p:nvSpPr>
        <p:spPr>
          <a:xfrm>
            <a:off x="1252728" y="384048"/>
            <a:ext cx="10436047" cy="256032"/>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BIG PICTURE</a:t>
            </a:r>
            <a:endParaRPr lang="en-US" sz="1200" dirty="0"/>
          </a:p>
        </p:txBody>
      </p:sp>
      <p:sp>
        <p:nvSpPr>
          <p:cNvPr id="5" name="Text 2"/>
          <p:cNvSpPr txBox="1"/>
          <p:nvPr/>
        </p:nvSpPr>
        <p:spPr>
          <a:xfrm>
            <a:off x="1252728" y="621792"/>
            <a:ext cx="10436047" cy="457200"/>
          </a:xfrm>
          <a:prstGeom prst="rect">
            <a:avLst/>
          </a:prstGeom>
          <a:noFill/>
          <a:ln/>
        </p:spPr>
        <p:txBody>
          <a:bodyPr wrap="square" lIns="0" tIns="0" rIns="0" bIns="0" rtlCol="0" anchor="ctr"/>
          <a:lstStyle/>
          <a:p>
            <a:pPr indent="0" marL="0">
              <a:buNone/>
            </a:pPr>
            <a:r>
              <a:rPr lang="en-US" sz="3000" b="1" dirty="0">
                <a:solidFill>
                  <a:srgbClr val="0B2038"/>
                </a:solidFill>
                <a:latin typeface="Cambria" pitchFamily="34" charset="0"/>
                <a:ea typeface="Cambria" pitchFamily="34" charset="-122"/>
                <a:cs typeface="Cambria" pitchFamily="34" charset="-120"/>
              </a:rPr>
              <a:t>Why Shrink the Model? (Quantization)</a:t>
            </a:r>
            <a:endParaRPr lang="en-US" sz="3000" dirty="0"/>
          </a:p>
        </p:txBody>
      </p:sp>
      <p:sp>
        <p:nvSpPr>
          <p:cNvPr id="6" name="Text 3"/>
          <p:cNvSpPr txBox="1"/>
          <p:nvPr/>
        </p:nvSpPr>
        <p:spPr>
          <a:xfrm>
            <a:off x="502920" y="1554480"/>
            <a:ext cx="11155680" cy="914400"/>
          </a:xfrm>
          <a:prstGeom prst="rect">
            <a:avLst/>
          </a:prstGeom>
          <a:noFill/>
          <a:ln/>
        </p:spPr>
        <p:txBody>
          <a:bodyPr wrap="square" lIns="0" tIns="0" rIns="0" bIns="0" rtlCol="0" anchor="ctr"/>
          <a:lstStyle/>
          <a:p>
            <a:pPr indent="0" marL="0">
              <a:lnSpc>
                <a:spcPct val="120000"/>
              </a:lnSpc>
              <a:buNone/>
            </a:pPr>
            <a:r>
              <a:rPr lang="en-US" sz="1500" dirty="0">
                <a:solidFill>
                  <a:srgbClr val="16232E"/>
                </a:solidFill>
                <a:latin typeface="Calibri" pitchFamily="34" charset="0"/>
                <a:ea typeface="Calibri" pitchFamily="34" charset="-122"/>
                <a:cs typeface="Calibri" pitchFamily="34" charset="-120"/>
              </a:rPr>
              <a:t>An LLM stores billions of numbers ("weights"). Normally each one is measured very precisely — like pricing something to the exact penny. Quantization rounds those numbers to a coarser scale to save memory and time, at a small, controlled accuracy cost.</a:t>
            </a:r>
            <a:endParaRPr lang="en-US" sz="1500" dirty="0"/>
          </a:p>
        </p:txBody>
      </p:sp>
      <p:sp>
        <p:nvSpPr>
          <p:cNvPr id="7" name="Shape 4"/>
          <p:cNvSpPr/>
          <p:nvPr/>
        </p:nvSpPr>
        <p:spPr>
          <a:xfrm>
            <a:off x="502920" y="2606040"/>
            <a:ext cx="3429000" cy="2743200"/>
          </a:xfrm>
          <a:prstGeom prst="roundRect">
            <a:avLst>
              <a:gd name="adj" fmla="val 2667"/>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8" name="Shape 5"/>
          <p:cNvSpPr/>
          <p:nvPr/>
        </p:nvSpPr>
        <p:spPr>
          <a:xfrm>
            <a:off x="777240" y="2880360"/>
            <a:ext cx="2880360" cy="457200"/>
          </a:xfrm>
          <a:prstGeom prst="roundRect">
            <a:avLst>
              <a:gd name="adj" fmla="val 16000"/>
            </a:avLst>
          </a:prstGeom>
          <a:solidFill>
            <a:srgbClr val="1C7293"/>
          </a:solidFill>
          <a:ln/>
        </p:spPr>
      </p:sp>
      <p:sp>
        <p:nvSpPr>
          <p:cNvPr id="9" name="Text 6"/>
          <p:cNvSpPr txBox="1"/>
          <p:nvPr/>
        </p:nvSpPr>
        <p:spPr>
          <a:xfrm>
            <a:off x="777240" y="2880360"/>
            <a:ext cx="28803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Full Precision</a:t>
            </a:r>
            <a:endParaRPr lang="en-US" sz="1500" dirty="0"/>
          </a:p>
        </p:txBody>
      </p:sp>
      <p:sp>
        <p:nvSpPr>
          <p:cNvPr id="10" name="Text 7"/>
          <p:cNvSpPr txBox="1"/>
          <p:nvPr/>
        </p:nvSpPr>
        <p:spPr>
          <a:xfrm>
            <a:off x="777240" y="3520440"/>
            <a:ext cx="2880360" cy="1417320"/>
          </a:xfrm>
          <a:prstGeom prst="rect">
            <a:avLst/>
          </a:prstGeom>
          <a:noFill/>
          <a:ln/>
        </p:spPr>
        <p:txBody>
          <a:bodyPr wrap="square" lIns="0" tIns="0" rIns="0" bIns="0" rtlCol="0" anchor="ctr"/>
          <a:lstStyle/>
          <a:p>
            <a:pPr indent="0" marL="0">
              <a:lnSpc>
                <a:spcPct val="115000"/>
              </a:lnSpc>
              <a:buNone/>
            </a:pPr>
            <a:r>
              <a:rPr lang="en-US" sz="1250" dirty="0">
                <a:solidFill>
                  <a:srgbClr val="16232E"/>
                </a:solidFill>
                <a:latin typeface="Calibri" pitchFamily="34" charset="0"/>
                <a:ea typeface="Calibri" pitchFamily="34" charset="-122"/>
                <a:cs typeface="Calibri" pitchFamily="34" charset="-120"/>
              </a:rPr>
              <a:t>A weight stored with lots of decimal detail — accurate, but takes more memory and more time to move around.</a:t>
            </a:r>
            <a:endParaRPr lang="en-US" sz="1250" dirty="0"/>
          </a:p>
        </p:txBody>
      </p:sp>
      <p:sp>
        <p:nvSpPr>
          <p:cNvPr id="11" name="Text 8"/>
          <p:cNvSpPr txBox="1"/>
          <p:nvPr/>
        </p:nvSpPr>
        <p:spPr>
          <a:xfrm>
            <a:off x="777240" y="4846320"/>
            <a:ext cx="2880360" cy="365760"/>
          </a:xfrm>
          <a:prstGeom prst="rect">
            <a:avLst/>
          </a:prstGeom>
          <a:noFill/>
          <a:ln/>
        </p:spPr>
        <p:txBody>
          <a:bodyPr wrap="square" lIns="0" tIns="0" rIns="0" bIns="0" rtlCol="0" anchor="ctr"/>
          <a:lstStyle/>
          <a:p>
            <a:pPr indent="0" marL="0">
              <a:buNone/>
            </a:pPr>
            <a:r>
              <a:rPr lang="en-US" sz="1150" i="1" dirty="0">
                <a:solidFill>
                  <a:srgbClr val="5B6B7A"/>
                </a:solidFill>
                <a:latin typeface="Calibri" pitchFamily="34" charset="0"/>
                <a:ea typeface="Calibri" pitchFamily="34" charset="-122"/>
                <a:cs typeface="Calibri" pitchFamily="34" charset="-120"/>
              </a:rPr>
              <a:t>Pricing to the penny</a:t>
            </a:r>
            <a:endParaRPr lang="en-US" sz="1150" dirty="0"/>
          </a:p>
        </p:txBody>
      </p:sp>
      <p:sp>
        <p:nvSpPr>
          <p:cNvPr id="12" name="Shape 9"/>
          <p:cNvSpPr/>
          <p:nvPr/>
        </p:nvSpPr>
        <p:spPr>
          <a:xfrm>
            <a:off x="4206240" y="2606040"/>
            <a:ext cx="3429000" cy="2743200"/>
          </a:xfrm>
          <a:prstGeom prst="roundRect">
            <a:avLst>
              <a:gd name="adj" fmla="val 2667"/>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13" name="Shape 10"/>
          <p:cNvSpPr/>
          <p:nvPr/>
        </p:nvSpPr>
        <p:spPr>
          <a:xfrm>
            <a:off x="4480560" y="2880360"/>
            <a:ext cx="2880360" cy="457200"/>
          </a:xfrm>
          <a:prstGeom prst="roundRect">
            <a:avLst>
              <a:gd name="adj" fmla="val 16000"/>
            </a:avLst>
          </a:prstGeom>
          <a:solidFill>
            <a:srgbClr val="F2A93B"/>
          </a:solidFill>
          <a:ln/>
        </p:spPr>
      </p:sp>
      <p:sp>
        <p:nvSpPr>
          <p:cNvPr id="14" name="Text 11"/>
          <p:cNvSpPr txBox="1"/>
          <p:nvPr/>
        </p:nvSpPr>
        <p:spPr>
          <a:xfrm>
            <a:off x="4480560" y="2880360"/>
            <a:ext cx="28803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INT4 (this project)</a:t>
            </a:r>
            <a:endParaRPr lang="en-US" sz="1500" dirty="0"/>
          </a:p>
        </p:txBody>
      </p:sp>
      <p:sp>
        <p:nvSpPr>
          <p:cNvPr id="15" name="Text 12"/>
          <p:cNvSpPr txBox="1"/>
          <p:nvPr/>
        </p:nvSpPr>
        <p:spPr>
          <a:xfrm>
            <a:off x="4480560" y="3520440"/>
            <a:ext cx="2880360" cy="1417320"/>
          </a:xfrm>
          <a:prstGeom prst="rect">
            <a:avLst/>
          </a:prstGeom>
          <a:noFill/>
          <a:ln/>
        </p:spPr>
        <p:txBody>
          <a:bodyPr wrap="square" lIns="0" tIns="0" rIns="0" bIns="0" rtlCol="0" anchor="ctr"/>
          <a:lstStyle/>
          <a:p>
            <a:pPr indent="0" marL="0">
              <a:lnSpc>
                <a:spcPct val="115000"/>
              </a:lnSpc>
              <a:buNone/>
            </a:pPr>
            <a:r>
              <a:rPr lang="en-US" sz="1250" dirty="0">
                <a:solidFill>
                  <a:srgbClr val="16232E"/>
                </a:solidFill>
                <a:latin typeface="Calibri" pitchFamily="34" charset="0"/>
                <a:ea typeface="Calibri" pitchFamily="34" charset="-122"/>
                <a:cs typeface="Calibri" pitchFamily="34" charset="-120"/>
              </a:rPr>
              <a:t>Each weight is rounded to one of 16 compact codes, plus a small shared "scale" (conversion factor) per neighborhood — 4x smaller, much faster to read.</a:t>
            </a:r>
            <a:endParaRPr lang="en-US" sz="1250" dirty="0"/>
          </a:p>
        </p:txBody>
      </p:sp>
      <p:sp>
        <p:nvSpPr>
          <p:cNvPr id="16" name="Text 13"/>
          <p:cNvSpPr txBox="1"/>
          <p:nvPr/>
        </p:nvSpPr>
        <p:spPr>
          <a:xfrm>
            <a:off x="4480560" y="4846320"/>
            <a:ext cx="2880360" cy="365760"/>
          </a:xfrm>
          <a:prstGeom prst="rect">
            <a:avLst/>
          </a:prstGeom>
          <a:noFill/>
          <a:ln/>
        </p:spPr>
        <p:txBody>
          <a:bodyPr wrap="square" lIns="0" tIns="0" rIns="0" bIns="0" rtlCol="0" anchor="ctr"/>
          <a:lstStyle/>
          <a:p>
            <a:pPr indent="0" marL="0">
              <a:buNone/>
            </a:pPr>
            <a:r>
              <a:rPr lang="en-US" sz="1150" i="1" dirty="0">
                <a:solidFill>
                  <a:srgbClr val="5B6B7A"/>
                </a:solidFill>
                <a:latin typeface="Calibri" pitchFamily="34" charset="0"/>
                <a:ea typeface="Calibri" pitchFamily="34" charset="-122"/>
                <a:cs typeface="Calibri" pitchFamily="34" charset="-120"/>
              </a:rPr>
              <a:t>Pricing to the nearest dollar</a:t>
            </a:r>
            <a:endParaRPr lang="en-US" sz="1150" dirty="0"/>
          </a:p>
        </p:txBody>
      </p:sp>
      <p:sp>
        <p:nvSpPr>
          <p:cNvPr id="17" name="Shape 14"/>
          <p:cNvSpPr/>
          <p:nvPr/>
        </p:nvSpPr>
        <p:spPr>
          <a:xfrm>
            <a:off x="7909560" y="2606040"/>
            <a:ext cx="3429000" cy="2743200"/>
          </a:xfrm>
          <a:prstGeom prst="roundRect">
            <a:avLst>
              <a:gd name="adj" fmla="val 2667"/>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18" name="Shape 15"/>
          <p:cNvSpPr/>
          <p:nvPr/>
        </p:nvSpPr>
        <p:spPr>
          <a:xfrm>
            <a:off x="8183880" y="2880360"/>
            <a:ext cx="2880360" cy="457200"/>
          </a:xfrm>
          <a:prstGeom prst="roundRect">
            <a:avLst>
              <a:gd name="adj" fmla="val 16000"/>
            </a:avLst>
          </a:prstGeom>
          <a:solidFill>
            <a:srgbClr val="1C7293"/>
          </a:solidFill>
          <a:ln/>
        </p:spPr>
      </p:sp>
      <p:sp>
        <p:nvSpPr>
          <p:cNvPr id="19" name="Text 16"/>
          <p:cNvSpPr txBox="1"/>
          <p:nvPr/>
        </p:nvSpPr>
        <p:spPr>
          <a:xfrm>
            <a:off x="8183880" y="2880360"/>
            <a:ext cx="28803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Trade-off</a:t>
            </a:r>
            <a:endParaRPr lang="en-US" sz="1500" dirty="0"/>
          </a:p>
        </p:txBody>
      </p:sp>
      <p:sp>
        <p:nvSpPr>
          <p:cNvPr id="20" name="Text 17"/>
          <p:cNvSpPr txBox="1"/>
          <p:nvPr/>
        </p:nvSpPr>
        <p:spPr>
          <a:xfrm>
            <a:off x="8183880" y="3520440"/>
            <a:ext cx="2880360" cy="1417320"/>
          </a:xfrm>
          <a:prstGeom prst="rect">
            <a:avLst/>
          </a:prstGeom>
          <a:noFill/>
          <a:ln/>
        </p:spPr>
        <p:txBody>
          <a:bodyPr wrap="square" lIns="0" tIns="0" rIns="0" bIns="0" rtlCol="0" anchor="ctr"/>
          <a:lstStyle/>
          <a:p>
            <a:pPr indent="0" marL="0">
              <a:lnSpc>
                <a:spcPct val="115000"/>
              </a:lnSpc>
              <a:buNone/>
            </a:pPr>
            <a:r>
              <a:rPr lang="en-US" sz="1250" dirty="0">
                <a:solidFill>
                  <a:srgbClr val="16232E"/>
                </a:solidFill>
                <a:latin typeface="Calibri" pitchFamily="34" charset="0"/>
                <a:ea typeface="Calibri" pitchFamily="34" charset="-122"/>
                <a:cs typeface="Calibri" pitchFamily="34" charset="-120"/>
              </a:rPr>
              <a:t>Small, measured accuracy loss in exchange for a much smaller, much faster model. This project keeps that loss standard and well understood, and focuses on the speed side.</a:t>
            </a:r>
            <a:endParaRPr lang="en-US" sz="1250" dirty="0"/>
          </a:p>
        </p:txBody>
      </p:sp>
      <p:sp>
        <p:nvSpPr>
          <p:cNvPr id="21" name="Text 18"/>
          <p:cNvSpPr txBox="1"/>
          <p:nvPr/>
        </p:nvSpPr>
        <p:spPr>
          <a:xfrm>
            <a:off x="8183880" y="4846320"/>
            <a:ext cx="2880360" cy="365760"/>
          </a:xfrm>
          <a:prstGeom prst="rect">
            <a:avLst/>
          </a:prstGeom>
          <a:noFill/>
          <a:ln/>
        </p:spPr>
        <p:txBody>
          <a:bodyPr wrap="square" lIns="0" tIns="0" rIns="0" bIns="0" rtlCol="0" anchor="ctr"/>
          <a:lstStyle/>
          <a:p>
            <a:pPr indent="0" marL="0">
              <a:buNone/>
            </a:pPr>
            <a:r>
              <a:rPr lang="en-US" sz="1150" i="1" dirty="0">
                <a:solidFill>
                  <a:srgbClr val="5B6B7A"/>
                </a:solidFill>
                <a:latin typeface="Calibri" pitchFamily="34" charset="0"/>
                <a:ea typeface="Calibri" pitchFamily="34" charset="-122"/>
                <a:cs typeface="Calibri" pitchFamily="34" charset="-120"/>
              </a:rPr>
              <a:t>A deliberate, honest trade</a:t>
            </a:r>
            <a:endParaRPr lang="en-US" sz="1150" dirty="0"/>
          </a:p>
        </p:txBody>
      </p:sp>
      <p:sp>
        <p:nvSpPr>
          <p:cNvPr id="22" name="Text 19"/>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TensorRT_plugin — Engineering Results Overview</a:t>
            </a:r>
            <a:endParaRPr lang="en-US" sz="1000" dirty="0"/>
          </a:p>
        </p:txBody>
      </p:sp>
      <p:sp>
        <p:nvSpPr>
          <p:cNvPr id="23" name="Text 20"/>
          <p:cNvSpPr txBox="1"/>
          <p:nvPr/>
        </p:nvSpPr>
        <p:spPr>
          <a:xfrm>
            <a:off x="11460175" y="6446520"/>
            <a:ext cx="4572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C7293"/>
          </a:solidFill>
          <a:ln/>
        </p:spPr>
      </p:sp>
      <p:pic>
        <p:nvPicPr>
          <p:cNvPr id="3" name="Image 0" descr="/tmp/claude-1001/-home-npalmass-work-Evol-inference/a73e848c-9ae9-41bb-8cca-4eccbf875541/scratchpad/tensorrt_deck/icon_chip.png">    </p:cNvPr>
          <p:cNvPicPr>
            <a:picLocks noChangeAspect="1"/>
          </p:cNvPicPr>
          <p:nvPr/>
        </p:nvPicPr>
        <p:blipFill>
          <a:blip r:embed="rId1"/>
          <a:stretch>
            <a:fillRect/>
          </a:stretch>
        </p:blipFill>
        <p:spPr>
          <a:xfrm>
            <a:off x="638983" y="520111"/>
            <a:ext cx="294803" cy="294803"/>
          </a:xfrm>
          <a:prstGeom prst="rect">
            <a:avLst/>
          </a:prstGeom>
        </p:spPr>
      </p:pic>
      <p:sp>
        <p:nvSpPr>
          <p:cNvPr id="4" name="Text 1"/>
          <p:cNvSpPr txBox="1"/>
          <p:nvPr/>
        </p:nvSpPr>
        <p:spPr>
          <a:xfrm>
            <a:off x="1252728" y="384048"/>
            <a:ext cx="10436047" cy="256032"/>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CORE CONCEPT</a:t>
            </a:r>
            <a:endParaRPr lang="en-US" sz="1200" dirty="0"/>
          </a:p>
        </p:txBody>
      </p:sp>
      <p:sp>
        <p:nvSpPr>
          <p:cNvPr id="5" name="Text 2"/>
          <p:cNvSpPr txBox="1"/>
          <p:nvPr/>
        </p:nvSpPr>
        <p:spPr>
          <a:xfrm>
            <a:off x="1252728" y="621792"/>
            <a:ext cx="10436047" cy="457200"/>
          </a:xfrm>
          <a:prstGeom prst="rect">
            <a:avLst/>
          </a:prstGeom>
          <a:noFill/>
          <a:ln/>
        </p:spPr>
        <p:txBody>
          <a:bodyPr wrap="square" lIns="0" tIns="0" rIns="0" bIns="0" rtlCol="0" anchor="ctr"/>
          <a:lstStyle/>
          <a:p>
            <a:pPr indent="0" marL="0">
              <a:buNone/>
            </a:pPr>
            <a:r>
              <a:rPr lang="en-US" sz="3000" b="1" dirty="0">
                <a:solidFill>
                  <a:srgbClr val="0B2038"/>
                </a:solidFill>
                <a:latin typeface="Cambria" pitchFamily="34" charset="0"/>
                <a:ea typeface="Cambria" pitchFamily="34" charset="-122"/>
                <a:cs typeface="Cambria" pitchFamily="34" charset="-120"/>
              </a:rPr>
              <a:t>What Is a "CUDA Kernel"?</a:t>
            </a:r>
            <a:endParaRPr lang="en-US" sz="3000" dirty="0"/>
          </a:p>
        </p:txBody>
      </p:sp>
      <p:sp>
        <p:nvSpPr>
          <p:cNvPr id="6" name="Text 3"/>
          <p:cNvSpPr txBox="1"/>
          <p:nvPr/>
        </p:nvSpPr>
        <p:spPr>
          <a:xfrm>
            <a:off x="502920" y="1508760"/>
            <a:ext cx="11155680" cy="914400"/>
          </a:xfrm>
          <a:prstGeom prst="rect">
            <a:avLst/>
          </a:prstGeom>
          <a:noFill/>
          <a:ln/>
        </p:spPr>
        <p:txBody>
          <a:bodyPr wrap="square" lIns="0" tIns="0" rIns="0" bIns="0" rtlCol="0" anchor="ctr"/>
          <a:lstStyle/>
          <a:p>
            <a:pPr indent="0" marL="0">
              <a:lnSpc>
                <a:spcPct val="120000"/>
              </a:lnSpc>
              <a:buNone/>
            </a:pPr>
            <a:r>
              <a:rPr lang="en-US" sz="1500" dirty="0">
                <a:solidFill>
                  <a:srgbClr val="16232E"/>
                </a:solidFill>
                <a:latin typeface="Calibri" pitchFamily="34" charset="0"/>
                <a:ea typeface="Calibri" pitchFamily="34" charset="-122"/>
                <a:cs typeface="Calibri" pitchFamily="34" charset="-120"/>
              </a:rPr>
              <a:t>A CUDA kernel is a small program written to run on the GPU — executed by thousands of threads at the same time, each one handling one tiny piece of a big calculation. Writing one by hand (instead of using an off-the-shelf library) means you control exactly how that work is split up.</a:t>
            </a:r>
            <a:endParaRPr lang="en-US" sz="1500" dirty="0"/>
          </a:p>
        </p:txBody>
      </p:sp>
      <p:sp>
        <p:nvSpPr>
          <p:cNvPr id="7" name="Shape 4"/>
          <p:cNvSpPr/>
          <p:nvPr/>
        </p:nvSpPr>
        <p:spPr>
          <a:xfrm>
            <a:off x="502920" y="2514600"/>
            <a:ext cx="5303520" cy="2606040"/>
          </a:xfrm>
          <a:prstGeom prst="roundRect">
            <a:avLst>
              <a:gd name="adj" fmla="val 2807"/>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8" name="Shape 5"/>
          <p:cNvSpPr/>
          <p:nvPr/>
        </p:nvSpPr>
        <p:spPr>
          <a:xfrm>
            <a:off x="777240" y="2788920"/>
            <a:ext cx="502920" cy="502920"/>
          </a:xfrm>
          <a:prstGeom prst="ellipse">
            <a:avLst/>
          </a:prstGeom>
          <a:solidFill>
            <a:srgbClr val="1C7293"/>
          </a:solidFill>
          <a:ln/>
        </p:spPr>
      </p:sp>
      <p:pic>
        <p:nvPicPr>
          <p:cNvPr id="9" name="Image 1" descr="/tmp/claude-1001/-home-npalmass-work-Evol-inference/a73e848c-9ae9-41bb-8cca-4eccbf875541/scratchpad/tensorrt_deck/icon_clock.png">    </p:cNvPr>
          <p:cNvPicPr>
            <a:picLocks noChangeAspect="1"/>
          </p:cNvPicPr>
          <p:nvPr/>
        </p:nvPicPr>
        <p:blipFill>
          <a:blip r:embed="rId2"/>
          <a:stretch>
            <a:fillRect/>
          </a:stretch>
        </p:blipFill>
        <p:spPr>
          <a:xfrm>
            <a:off x="897941" y="2909621"/>
            <a:ext cx="261518" cy="261518"/>
          </a:xfrm>
          <a:prstGeom prst="rect">
            <a:avLst/>
          </a:prstGeom>
        </p:spPr>
      </p:pic>
      <p:sp>
        <p:nvSpPr>
          <p:cNvPr id="10" name="Text 6"/>
          <p:cNvSpPr txBox="1"/>
          <p:nvPr/>
        </p:nvSpPr>
        <p:spPr>
          <a:xfrm>
            <a:off x="1417320" y="2770632"/>
            <a:ext cx="4114800" cy="457200"/>
          </a:xfrm>
          <a:prstGeom prst="rect">
            <a:avLst/>
          </a:prstGeom>
          <a:noFill/>
          <a:ln/>
        </p:spPr>
        <p:txBody>
          <a:bodyPr wrap="square" lIns="0" tIns="0" rIns="0" bIns="0" rtlCol="0" anchor="ctr"/>
          <a:lstStyle/>
          <a:p>
            <a:pPr indent="0" marL="0">
              <a:buNone/>
            </a:pPr>
            <a:r>
              <a:rPr lang="en-US" sz="1700" b="1" dirty="0">
                <a:solidFill>
                  <a:srgbClr val="0B2038"/>
                </a:solidFill>
                <a:latin typeface="Cambria" pitchFamily="34" charset="0"/>
                <a:ea typeface="Cambria" pitchFamily="34" charset="-122"/>
                <a:cs typeface="Cambria" pitchFamily="34" charset="-120"/>
              </a:rPr>
              <a:t>First Version: Naive</a:t>
            </a:r>
            <a:endParaRPr lang="en-US" sz="1700" dirty="0"/>
          </a:p>
        </p:txBody>
      </p:sp>
      <p:sp>
        <p:nvSpPr>
          <p:cNvPr id="11" name="Text 7"/>
          <p:cNvSpPr txBox="1"/>
          <p:nvPr/>
        </p:nvSpPr>
        <p:spPr>
          <a:xfrm>
            <a:off x="777240" y="3383280"/>
            <a:ext cx="4754880" cy="1508760"/>
          </a:xfrm>
          <a:prstGeom prst="rect">
            <a:avLst/>
          </a:prstGeom>
          <a:noFill/>
          <a:ln/>
        </p:spPr>
        <p:txBody>
          <a:bodyPr wrap="square" lIns="0" tIns="0" rIns="0" bIns="0" rtlCol="0" anchor="t"/>
          <a:lstStyle/>
          <a:p>
            <a:pPr indent="0" marL="0">
              <a:lnSpc>
                <a:spcPct val="115000"/>
              </a:lnSpc>
              <a:buNone/>
            </a:pPr>
            <a:r>
              <a:rPr lang="en-US" sz="1300" dirty="0">
                <a:solidFill>
                  <a:srgbClr val="16232E"/>
                </a:solidFill>
                <a:latin typeface="Calibri" pitchFamily="34" charset="0"/>
                <a:ea typeface="Calibri" pitchFamily="34" charset="-122"/>
                <a:cs typeface="Calibri" pitchFamily="34" charset="-120"/>
              </a:rPr>
              <a:t>One thread computes one output value, working through its piece of the math step by step — simple to write, and a safe way to first prove the math is correct. But it turns out to be slow: it wastes most of the GPU’s time waiting on memory (next slide).</a:t>
            </a:r>
            <a:endParaRPr lang="en-US" sz="1300" dirty="0"/>
          </a:p>
        </p:txBody>
      </p:sp>
      <p:sp>
        <p:nvSpPr>
          <p:cNvPr id="12" name="Shape 8"/>
          <p:cNvSpPr/>
          <p:nvPr/>
        </p:nvSpPr>
        <p:spPr>
          <a:xfrm>
            <a:off x="6126480" y="2514600"/>
            <a:ext cx="5303520" cy="2606040"/>
          </a:xfrm>
          <a:prstGeom prst="roundRect">
            <a:avLst>
              <a:gd name="adj" fmla="val 2807"/>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13" name="Shape 9"/>
          <p:cNvSpPr/>
          <p:nvPr/>
        </p:nvSpPr>
        <p:spPr>
          <a:xfrm>
            <a:off x="6400800" y="2788920"/>
            <a:ext cx="502920" cy="502920"/>
          </a:xfrm>
          <a:prstGeom prst="ellipse">
            <a:avLst/>
          </a:prstGeom>
          <a:solidFill>
            <a:srgbClr val="F2A93B"/>
          </a:solidFill>
          <a:ln/>
        </p:spPr>
      </p:sp>
      <p:pic>
        <p:nvPicPr>
          <p:cNvPr id="14" name="Image 2" descr="/tmp/claude-1001/-home-npalmass-work-Evol-inference/a73e848c-9ae9-41bb-8cca-4eccbf875541/scratchpad/tensorrt_deck/icon_bolt.png">    </p:cNvPr>
          <p:cNvPicPr>
            <a:picLocks noChangeAspect="1"/>
          </p:cNvPicPr>
          <p:nvPr/>
        </p:nvPicPr>
        <p:blipFill>
          <a:blip r:embed="rId3"/>
          <a:stretch>
            <a:fillRect/>
          </a:stretch>
        </p:blipFill>
        <p:spPr>
          <a:xfrm>
            <a:off x="6521501" y="2909621"/>
            <a:ext cx="261518" cy="261518"/>
          </a:xfrm>
          <a:prstGeom prst="rect">
            <a:avLst/>
          </a:prstGeom>
        </p:spPr>
      </p:pic>
      <p:sp>
        <p:nvSpPr>
          <p:cNvPr id="15" name="Text 10"/>
          <p:cNvSpPr txBox="1"/>
          <p:nvPr/>
        </p:nvSpPr>
        <p:spPr>
          <a:xfrm>
            <a:off x="7040880" y="2770632"/>
            <a:ext cx="4114800" cy="457200"/>
          </a:xfrm>
          <a:prstGeom prst="rect">
            <a:avLst/>
          </a:prstGeom>
          <a:noFill/>
          <a:ln/>
        </p:spPr>
        <p:txBody>
          <a:bodyPr wrap="square" lIns="0" tIns="0" rIns="0" bIns="0" rtlCol="0" anchor="ctr"/>
          <a:lstStyle/>
          <a:p>
            <a:pPr indent="0" marL="0">
              <a:buNone/>
            </a:pPr>
            <a:r>
              <a:rPr lang="en-US" sz="1700" b="1" dirty="0">
                <a:solidFill>
                  <a:srgbClr val="0B2038"/>
                </a:solidFill>
                <a:latin typeface="Cambria" pitchFamily="34" charset="0"/>
                <a:ea typeface="Cambria" pitchFamily="34" charset="-122"/>
                <a:cs typeface="Cambria" pitchFamily="34" charset="-120"/>
              </a:rPr>
              <a:t>Second Version: Optimized</a:t>
            </a:r>
            <a:endParaRPr lang="en-US" sz="1700" dirty="0"/>
          </a:p>
        </p:txBody>
      </p:sp>
      <p:sp>
        <p:nvSpPr>
          <p:cNvPr id="16" name="Text 11"/>
          <p:cNvSpPr txBox="1"/>
          <p:nvPr/>
        </p:nvSpPr>
        <p:spPr>
          <a:xfrm>
            <a:off x="6400800" y="3383280"/>
            <a:ext cx="4754880" cy="1508760"/>
          </a:xfrm>
          <a:prstGeom prst="rect">
            <a:avLst/>
          </a:prstGeom>
          <a:noFill/>
          <a:ln/>
        </p:spPr>
        <p:txBody>
          <a:bodyPr wrap="square" lIns="0" tIns="0" rIns="0" bIns="0" rtlCol="0" anchor="t"/>
          <a:lstStyle/>
          <a:p>
            <a:pPr indent="0" marL="0">
              <a:lnSpc>
                <a:spcPct val="115000"/>
              </a:lnSpc>
              <a:buNone/>
            </a:pPr>
            <a:r>
              <a:rPr lang="en-US" sz="1300" dirty="0">
                <a:solidFill>
                  <a:srgbClr val="16232E"/>
                </a:solidFill>
                <a:latin typeface="Calibri" pitchFamily="34" charset="0"/>
                <a:ea typeface="Calibri" pitchFamily="34" charset="-122"/>
                <a:cs typeface="Calibri" pitchFamily="34" charset="-120"/>
              </a:rPr>
              <a:t>Groups of 32 threads ("a warp") cooperate: they share work through fast on-chip memory and read data in neighboring chunks instead of scattered ones. Same math, same answer — verified against the first version — just far less wasted GPU work.</a:t>
            </a:r>
            <a:endParaRPr lang="en-US" sz="1300" dirty="0"/>
          </a:p>
        </p:txBody>
      </p:sp>
      <p:sp>
        <p:nvSpPr>
          <p:cNvPr id="17" name="Shape 12"/>
          <p:cNvSpPr/>
          <p:nvPr/>
        </p:nvSpPr>
        <p:spPr>
          <a:xfrm>
            <a:off x="502920" y="5349240"/>
            <a:ext cx="11155680" cy="621792"/>
          </a:xfrm>
          <a:prstGeom prst="roundRect">
            <a:avLst>
              <a:gd name="adj" fmla="val 14706"/>
            </a:avLst>
          </a:prstGeom>
          <a:solidFill>
            <a:srgbClr val="0B2038"/>
          </a:solidFill>
          <a:ln/>
        </p:spPr>
      </p:sp>
      <p:sp>
        <p:nvSpPr>
          <p:cNvPr id="18" name="Text 13"/>
          <p:cNvSpPr txBox="1"/>
          <p:nvPr/>
        </p:nvSpPr>
        <p:spPr>
          <a:xfrm>
            <a:off x="777240" y="5349240"/>
            <a:ext cx="10607040" cy="621792"/>
          </a:xfrm>
          <a:prstGeom prst="rect">
            <a:avLst/>
          </a:prstGeom>
          <a:noFill/>
          <a:ln/>
        </p:spPr>
        <p:txBody>
          <a:bodyPr wrap="square" lIns="0" tIns="0" rIns="0" bIns="0" rtlCol="0" anchor="ctr"/>
          <a:lstStyle/>
          <a:p>
            <a:pPr indent="0" marL="0">
              <a:buNone/>
            </a:pPr>
            <a:r>
              <a:rPr lang="en-US" sz="1800" b="1" dirty="0">
                <a:solidFill>
                  <a:srgbClr val="F2A93B"/>
                </a:solidFill>
                <a:latin typeface="Calibri" pitchFamily="34" charset="0"/>
                <a:ea typeface="Calibri" pitchFamily="34" charset="-122"/>
                <a:cs typeface="Calibri" pitchFamily="34" charset="-120"/>
              </a:rPr>
              <a:t>4.3x faster</a:t>
            </a:r>
            <a:pPr indent="0" marL="0">
              <a:buNone/>
            </a:pPr>
            <a:r>
              <a:rPr lang="en-US" sz="1350" dirty="0">
                <a:solidFill>
                  <a:srgbClr val="FFFFFF"/>
                </a:solidFill>
                <a:latin typeface="Calibri" pitchFamily="34" charset="0"/>
                <a:ea typeface="Calibri" pitchFamily="34" charset="-122"/>
                <a:cs typeface="Calibri" pitchFamily="34" charset="-120"/>
              </a:rPr>
              <a:t>   — the optimized kernel vs. the naive one, same GPU, same shape, same correctness checks.</a:t>
            </a:r>
            <a:endParaRPr lang="en-US" sz="1800" dirty="0"/>
          </a:p>
        </p:txBody>
      </p:sp>
      <p:sp>
        <p:nvSpPr>
          <p:cNvPr id="19" name="Text 14"/>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TensorRT_plugin — Engineering Results Overview</a:t>
            </a:r>
            <a:endParaRPr lang="en-US" sz="1000" dirty="0"/>
          </a:p>
        </p:txBody>
      </p:sp>
      <p:sp>
        <p:nvSpPr>
          <p:cNvPr id="20" name="Text 15"/>
          <p:cNvSpPr txBox="1"/>
          <p:nvPr/>
        </p:nvSpPr>
        <p:spPr>
          <a:xfrm>
            <a:off x="11460175" y="6446520"/>
            <a:ext cx="4572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C7293"/>
          </a:solidFill>
          <a:ln/>
        </p:spPr>
      </p:sp>
      <p:pic>
        <p:nvPicPr>
          <p:cNvPr id="3" name="Image 0" descr="/tmp/claude-1001/-home-npalmass-work-Evol-inference/a73e848c-9ae9-41bb-8cca-4eccbf875541/scratchpad/tensorrt_deck/icon_layers.png">    </p:cNvPr>
          <p:cNvPicPr>
            <a:picLocks noChangeAspect="1"/>
          </p:cNvPicPr>
          <p:nvPr/>
        </p:nvPicPr>
        <p:blipFill>
          <a:blip r:embed="rId1"/>
          <a:stretch>
            <a:fillRect/>
          </a:stretch>
        </p:blipFill>
        <p:spPr>
          <a:xfrm>
            <a:off x="638983" y="520111"/>
            <a:ext cx="294803" cy="294803"/>
          </a:xfrm>
          <a:prstGeom prst="rect">
            <a:avLst/>
          </a:prstGeom>
        </p:spPr>
      </p:pic>
      <p:sp>
        <p:nvSpPr>
          <p:cNvPr id="4" name="Text 1"/>
          <p:cNvSpPr txBox="1"/>
          <p:nvPr/>
        </p:nvSpPr>
        <p:spPr>
          <a:xfrm>
            <a:off x="1252728" y="384048"/>
            <a:ext cx="10436047" cy="256032"/>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CORE CONCEPT</a:t>
            </a:r>
            <a:endParaRPr lang="en-US" sz="1200" dirty="0"/>
          </a:p>
        </p:txBody>
      </p:sp>
      <p:sp>
        <p:nvSpPr>
          <p:cNvPr id="5" name="Text 2"/>
          <p:cNvSpPr txBox="1"/>
          <p:nvPr/>
        </p:nvSpPr>
        <p:spPr>
          <a:xfrm>
            <a:off x="1252728" y="621792"/>
            <a:ext cx="10436047" cy="457200"/>
          </a:xfrm>
          <a:prstGeom prst="rect">
            <a:avLst/>
          </a:prstGeom>
          <a:noFill/>
          <a:ln/>
        </p:spPr>
        <p:txBody>
          <a:bodyPr wrap="square" lIns="0" tIns="0" rIns="0" bIns="0" rtlCol="0" anchor="ctr"/>
          <a:lstStyle/>
          <a:p>
            <a:pPr indent="0" marL="0">
              <a:buNone/>
            </a:pPr>
            <a:r>
              <a:rPr lang="en-US" sz="3000" b="1" dirty="0">
                <a:solidFill>
                  <a:srgbClr val="0B2038"/>
                </a:solidFill>
                <a:latin typeface="Cambria" pitchFamily="34" charset="0"/>
                <a:ea typeface="Cambria" pitchFamily="34" charset="-122"/>
                <a:cs typeface="Cambria" pitchFamily="34" charset="-120"/>
              </a:rPr>
              <a:t>Why Was the First Kernel Slow? Memory "Sectors"</a:t>
            </a:r>
            <a:endParaRPr lang="en-US" sz="3000" dirty="0"/>
          </a:p>
        </p:txBody>
      </p:sp>
      <p:sp>
        <p:nvSpPr>
          <p:cNvPr id="6" name="Text 3"/>
          <p:cNvSpPr txBox="1"/>
          <p:nvPr/>
        </p:nvSpPr>
        <p:spPr>
          <a:xfrm>
            <a:off x="502920" y="1508760"/>
            <a:ext cx="11155680" cy="914400"/>
          </a:xfrm>
          <a:prstGeom prst="rect">
            <a:avLst/>
          </a:prstGeom>
          <a:noFill/>
          <a:ln/>
        </p:spPr>
        <p:txBody>
          <a:bodyPr wrap="square" lIns="0" tIns="0" rIns="0" bIns="0" rtlCol="0" anchor="ctr"/>
          <a:lstStyle/>
          <a:p>
            <a:pPr indent="0" marL="0">
              <a:lnSpc>
                <a:spcPct val="120000"/>
              </a:lnSpc>
              <a:buNone/>
            </a:pPr>
            <a:r>
              <a:rPr lang="en-US" sz="1500" dirty="0">
                <a:solidFill>
                  <a:srgbClr val="16232E"/>
                </a:solidFill>
                <a:latin typeface="Calibri" pitchFamily="34" charset="0"/>
                <a:ea typeface="Calibri" pitchFamily="34" charset="-122"/>
                <a:cs typeface="Calibri" pitchFamily="34" charset="-120"/>
              </a:rPr>
              <a:t>GPU memory isn’t fetched one number at a time — it comes in fixed-size chunks, called sectors (like pulling a whole tray off a shelf even if you only wanted one item on it). If neighboring threads ask for scattered data, most of every tray fetched goes unused.</a:t>
            </a:r>
            <a:endParaRPr lang="en-US" sz="1500" dirty="0"/>
          </a:p>
        </p:txBody>
      </p:sp>
      <p:sp>
        <p:nvSpPr>
          <p:cNvPr id="7" name="Shape 4"/>
          <p:cNvSpPr/>
          <p:nvPr/>
        </p:nvSpPr>
        <p:spPr>
          <a:xfrm>
            <a:off x="502920" y="2606040"/>
            <a:ext cx="5303520" cy="3063240"/>
          </a:xfrm>
          <a:prstGeom prst="roundRect">
            <a:avLst>
              <a:gd name="adj" fmla="val 2388"/>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8" name="Text 5"/>
          <p:cNvSpPr txBox="1"/>
          <p:nvPr/>
        </p:nvSpPr>
        <p:spPr>
          <a:xfrm>
            <a:off x="777240" y="2862072"/>
            <a:ext cx="4754880" cy="365760"/>
          </a:xfrm>
          <a:prstGeom prst="rect">
            <a:avLst/>
          </a:prstGeom>
          <a:noFill/>
          <a:ln/>
        </p:spPr>
        <p:txBody>
          <a:bodyPr wrap="square" lIns="0" tIns="0" rIns="0" bIns="0" rtlCol="0" anchor="ctr"/>
          <a:lstStyle/>
          <a:p>
            <a:pPr indent="0" marL="0">
              <a:buNone/>
            </a:pPr>
            <a:r>
              <a:rPr lang="en-US" sz="1600" b="1" dirty="0">
                <a:solidFill>
                  <a:srgbClr val="0B2038"/>
                </a:solidFill>
                <a:latin typeface="Cambria" pitchFamily="34" charset="0"/>
                <a:ea typeface="Cambria" pitchFamily="34" charset="-122"/>
                <a:cs typeface="Cambria" pitchFamily="34" charset="-120"/>
              </a:rPr>
              <a:t>Naive Kernel: Scattered Requests</a:t>
            </a:r>
            <a:endParaRPr lang="en-US" sz="1600" dirty="0"/>
          </a:p>
        </p:txBody>
      </p:sp>
      <p:sp>
        <p:nvSpPr>
          <p:cNvPr id="9" name="Text 6"/>
          <p:cNvSpPr txBox="1"/>
          <p:nvPr/>
        </p:nvSpPr>
        <p:spPr>
          <a:xfrm>
            <a:off x="777240" y="3383280"/>
            <a:ext cx="4754880" cy="685800"/>
          </a:xfrm>
          <a:prstGeom prst="rect">
            <a:avLst/>
          </a:prstGeom>
          <a:noFill/>
          <a:ln/>
        </p:spPr>
        <p:txBody>
          <a:bodyPr wrap="square" lIns="0" tIns="0" rIns="0" bIns="0" rtlCol="0" anchor="t"/>
          <a:lstStyle/>
          <a:p>
            <a:pPr indent="0" marL="0">
              <a:buNone/>
            </a:pPr>
            <a:r>
              <a:rPr lang="en-US" sz="3000" b="1" dirty="0">
                <a:solidFill>
                  <a:srgbClr val="0B2038"/>
                </a:solidFill>
                <a:latin typeface="Calibri" pitchFamily="34" charset="0"/>
                <a:ea typeface="Calibri" pitchFamily="34" charset="-122"/>
                <a:cs typeface="Calibri" pitchFamily="34" charset="-120"/>
              </a:rPr>
              <a:t>10.67</a:t>
            </a:r>
            <a:pPr indent="0" marL="0">
              <a:buNone/>
            </a:pPr>
            <a:r>
              <a:rPr lang="en-US" sz="1350" dirty="0">
                <a:solidFill>
                  <a:srgbClr val="16232E"/>
                </a:solidFill>
                <a:latin typeface="Calibri" pitchFamily="34" charset="0"/>
                <a:ea typeface="Calibri" pitchFamily="34" charset="-122"/>
                <a:cs typeface="Calibri" pitchFamily="34" charset="-120"/>
              </a:rPr>
              <a:t> trays fetched to get the data that fit in about 2</a:t>
            </a:r>
            <a:endParaRPr lang="en-US" sz="3000" dirty="0"/>
          </a:p>
        </p:txBody>
      </p:sp>
      <p:sp>
        <p:nvSpPr>
          <p:cNvPr id="10" name="Shape 7"/>
          <p:cNvSpPr/>
          <p:nvPr/>
        </p:nvSpPr>
        <p:spPr>
          <a:xfrm>
            <a:off x="777240" y="4206240"/>
            <a:ext cx="4754880" cy="365760"/>
          </a:xfrm>
          <a:prstGeom prst="rect">
            <a:avLst/>
          </a:prstGeom>
          <a:solidFill>
            <a:srgbClr val="E4E9ED"/>
          </a:solidFill>
          <a:ln/>
        </p:spPr>
      </p:sp>
      <p:sp>
        <p:nvSpPr>
          <p:cNvPr id="11" name="Shape 8"/>
          <p:cNvSpPr/>
          <p:nvPr/>
        </p:nvSpPr>
        <p:spPr>
          <a:xfrm>
            <a:off x="777240" y="4206240"/>
            <a:ext cx="665683" cy="365760"/>
          </a:xfrm>
          <a:prstGeom prst="rect">
            <a:avLst/>
          </a:prstGeom>
          <a:solidFill>
            <a:srgbClr val="1C7293"/>
          </a:solidFill>
          <a:ln/>
        </p:spPr>
      </p:sp>
      <p:sp>
        <p:nvSpPr>
          <p:cNvPr id="12" name="Text 9"/>
          <p:cNvSpPr txBox="1"/>
          <p:nvPr/>
        </p:nvSpPr>
        <p:spPr>
          <a:xfrm>
            <a:off x="777240" y="4617720"/>
            <a:ext cx="4754880" cy="320040"/>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14% used  •  86% wasted</a:t>
            </a:r>
            <a:endParaRPr lang="en-US" sz="1200" dirty="0"/>
          </a:p>
        </p:txBody>
      </p:sp>
      <p:sp>
        <p:nvSpPr>
          <p:cNvPr id="13" name="Text 10"/>
          <p:cNvSpPr txBox="1"/>
          <p:nvPr/>
        </p:nvSpPr>
        <p:spPr>
          <a:xfrm>
            <a:off x="777240" y="5029200"/>
            <a:ext cx="4754880" cy="548640"/>
          </a:xfrm>
          <a:prstGeom prst="rect">
            <a:avLst/>
          </a:prstGeom>
          <a:noFill/>
          <a:ln/>
        </p:spPr>
        <p:txBody>
          <a:bodyPr wrap="square" lIns="0" tIns="0" rIns="0" bIns="0" rtlCol="0" anchor="ctr"/>
          <a:lstStyle/>
          <a:p>
            <a:pPr indent="0" marL="0">
              <a:lnSpc>
                <a:spcPct val="110000"/>
              </a:lnSpc>
              <a:buNone/>
            </a:pPr>
            <a:r>
              <a:rPr lang="en-US" sz="1200" i="1" dirty="0">
                <a:solidFill>
                  <a:srgbClr val="16232E"/>
                </a:solidFill>
                <a:latin typeface="Calibri" pitchFamily="34" charset="0"/>
                <a:ea typeface="Calibri" pitchFamily="34" charset="-122"/>
                <a:cs typeface="Calibri" pitchFamily="34" charset="-120"/>
              </a:rPr>
              <a:t>Only 38% of the GPU’s compute power was even being used — it spent most of its time waiting on memory, not calculating.</a:t>
            </a:r>
            <a:endParaRPr lang="en-US" sz="1200" dirty="0"/>
          </a:p>
        </p:txBody>
      </p:sp>
      <p:sp>
        <p:nvSpPr>
          <p:cNvPr id="14" name="Shape 11"/>
          <p:cNvSpPr/>
          <p:nvPr/>
        </p:nvSpPr>
        <p:spPr>
          <a:xfrm>
            <a:off x="6126480" y="2606040"/>
            <a:ext cx="5303520" cy="3063240"/>
          </a:xfrm>
          <a:prstGeom prst="roundRect">
            <a:avLst>
              <a:gd name="adj" fmla="val 2388"/>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15" name="Text 12"/>
          <p:cNvSpPr txBox="1"/>
          <p:nvPr/>
        </p:nvSpPr>
        <p:spPr>
          <a:xfrm>
            <a:off x="6400800" y="2862072"/>
            <a:ext cx="4754880" cy="365760"/>
          </a:xfrm>
          <a:prstGeom prst="rect">
            <a:avLst/>
          </a:prstGeom>
          <a:noFill/>
          <a:ln/>
        </p:spPr>
        <p:txBody>
          <a:bodyPr wrap="square" lIns="0" tIns="0" rIns="0" bIns="0" rtlCol="0" anchor="ctr"/>
          <a:lstStyle/>
          <a:p>
            <a:pPr indent="0" marL="0">
              <a:buNone/>
            </a:pPr>
            <a:r>
              <a:rPr lang="en-US" sz="1600" b="1" dirty="0">
                <a:solidFill>
                  <a:srgbClr val="0B2038"/>
                </a:solidFill>
                <a:latin typeface="Cambria" pitchFamily="34" charset="0"/>
                <a:ea typeface="Cambria" pitchFamily="34" charset="-122"/>
                <a:cs typeface="Cambria" pitchFamily="34" charset="-120"/>
              </a:rPr>
              <a:t>Optimized Kernel: Neighboring Requests</a:t>
            </a:r>
            <a:endParaRPr lang="en-US" sz="1600" dirty="0"/>
          </a:p>
        </p:txBody>
      </p:sp>
      <p:sp>
        <p:nvSpPr>
          <p:cNvPr id="16" name="Text 13"/>
          <p:cNvSpPr txBox="1"/>
          <p:nvPr/>
        </p:nvSpPr>
        <p:spPr>
          <a:xfrm>
            <a:off x="6400800" y="3383280"/>
            <a:ext cx="4754880" cy="685800"/>
          </a:xfrm>
          <a:prstGeom prst="rect">
            <a:avLst/>
          </a:prstGeom>
          <a:noFill/>
          <a:ln/>
        </p:spPr>
        <p:txBody>
          <a:bodyPr wrap="square" lIns="0" tIns="0" rIns="0" bIns="0" rtlCol="0" anchor="t"/>
          <a:lstStyle/>
          <a:p>
            <a:pPr indent="0" marL="0">
              <a:buNone/>
            </a:pPr>
            <a:r>
              <a:rPr lang="en-US" sz="3000" b="1" dirty="0">
                <a:solidFill>
                  <a:srgbClr val="F2A93B"/>
                </a:solidFill>
                <a:latin typeface="Calibri" pitchFamily="34" charset="0"/>
                <a:ea typeface="Calibri" pitchFamily="34" charset="-122"/>
                <a:cs typeface="Calibri" pitchFamily="34" charset="-120"/>
              </a:rPr>
              <a:t>1.60</a:t>
            </a:r>
            <a:pPr indent="0" marL="0">
              <a:buNone/>
            </a:pPr>
            <a:r>
              <a:rPr lang="en-US" sz="1350" dirty="0">
                <a:solidFill>
                  <a:srgbClr val="16232E"/>
                </a:solidFill>
                <a:latin typeface="Calibri" pitchFamily="34" charset="0"/>
                <a:ea typeface="Calibri" pitchFamily="34" charset="-122"/>
                <a:cs typeface="Calibri" pitchFamily="34" charset="-120"/>
              </a:rPr>
              <a:t> trays fetched for the same data</a:t>
            </a:r>
            <a:endParaRPr lang="en-US" sz="3000" dirty="0"/>
          </a:p>
        </p:txBody>
      </p:sp>
      <p:sp>
        <p:nvSpPr>
          <p:cNvPr id="17" name="Shape 14"/>
          <p:cNvSpPr/>
          <p:nvPr/>
        </p:nvSpPr>
        <p:spPr>
          <a:xfrm>
            <a:off x="6400800" y="4206240"/>
            <a:ext cx="4754880" cy="365760"/>
          </a:xfrm>
          <a:prstGeom prst="rect">
            <a:avLst/>
          </a:prstGeom>
          <a:solidFill>
            <a:srgbClr val="E4E9ED"/>
          </a:solidFill>
          <a:ln/>
        </p:spPr>
      </p:sp>
      <p:sp>
        <p:nvSpPr>
          <p:cNvPr id="18" name="Shape 15"/>
          <p:cNvSpPr/>
          <p:nvPr/>
        </p:nvSpPr>
        <p:spPr>
          <a:xfrm>
            <a:off x="6400800" y="4206240"/>
            <a:ext cx="4754880" cy="365760"/>
          </a:xfrm>
          <a:prstGeom prst="rect">
            <a:avLst/>
          </a:prstGeom>
          <a:solidFill>
            <a:srgbClr val="F2A93B"/>
          </a:solidFill>
          <a:ln/>
        </p:spPr>
      </p:sp>
      <p:sp>
        <p:nvSpPr>
          <p:cNvPr id="19" name="Text 16"/>
          <p:cNvSpPr txBox="1"/>
          <p:nvPr/>
        </p:nvSpPr>
        <p:spPr>
          <a:xfrm>
            <a:off x="6400800" y="4617720"/>
            <a:ext cx="4754880" cy="320040"/>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Nearly every byte fetched gets used</a:t>
            </a:r>
            <a:endParaRPr lang="en-US" sz="1200" dirty="0"/>
          </a:p>
        </p:txBody>
      </p:sp>
      <p:sp>
        <p:nvSpPr>
          <p:cNvPr id="20" name="Text 17"/>
          <p:cNvSpPr txBox="1"/>
          <p:nvPr/>
        </p:nvSpPr>
        <p:spPr>
          <a:xfrm>
            <a:off x="6400800" y="5029200"/>
            <a:ext cx="4754880" cy="548640"/>
          </a:xfrm>
          <a:prstGeom prst="rect">
            <a:avLst/>
          </a:prstGeom>
          <a:noFill/>
          <a:ln/>
        </p:spPr>
        <p:txBody>
          <a:bodyPr wrap="square" lIns="0" tIns="0" rIns="0" bIns="0" rtlCol="0" anchor="ctr"/>
          <a:lstStyle/>
          <a:p>
            <a:pPr indent="0" marL="0">
              <a:lnSpc>
                <a:spcPct val="110000"/>
              </a:lnSpc>
              <a:buNone/>
            </a:pPr>
            <a:r>
              <a:rPr lang="en-US" sz="1200" i="1" dirty="0">
                <a:solidFill>
                  <a:srgbClr val="16232E"/>
                </a:solidFill>
                <a:latin typeface="Calibri" pitchFamily="34" charset="0"/>
                <a:ea typeface="Calibri" pitchFamily="34" charset="-122"/>
                <a:cs typeface="Calibri" pitchFamily="34" charset="-120"/>
              </a:rPr>
              <a:t>Measured on the GPU with NVIDIA’s Nsight Compute profiler, both before and after the fix — not estimated.</a:t>
            </a:r>
            <a:endParaRPr lang="en-US" sz="1200" dirty="0"/>
          </a:p>
        </p:txBody>
      </p:sp>
      <p:sp>
        <p:nvSpPr>
          <p:cNvPr id="21" name="Text 18"/>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TensorRT_plugin — Engineering Results Overview</a:t>
            </a:r>
            <a:endParaRPr lang="en-US" sz="1000" dirty="0"/>
          </a:p>
        </p:txBody>
      </p:sp>
      <p:sp>
        <p:nvSpPr>
          <p:cNvPr id="22" name="Text 19"/>
          <p:cNvSpPr txBox="1"/>
          <p:nvPr/>
        </p:nvSpPr>
        <p:spPr>
          <a:xfrm>
            <a:off x="11460175" y="6446520"/>
            <a:ext cx="4572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C7293"/>
          </a:solidFill>
          <a:ln/>
        </p:spPr>
      </p:sp>
      <p:pic>
        <p:nvPicPr>
          <p:cNvPr id="3" name="Image 0" descr="/tmp/claude-1001/-home-npalmass-work-Evol-inference/a73e848c-9ae9-41bb-8cca-4eccbf875541/scratchpad/tensorrt_deck/icon_clock.png">    </p:cNvPr>
          <p:cNvPicPr>
            <a:picLocks noChangeAspect="1"/>
          </p:cNvPicPr>
          <p:nvPr/>
        </p:nvPicPr>
        <p:blipFill>
          <a:blip r:embed="rId1"/>
          <a:stretch>
            <a:fillRect/>
          </a:stretch>
        </p:blipFill>
        <p:spPr>
          <a:xfrm>
            <a:off x="638983" y="520111"/>
            <a:ext cx="294803" cy="294803"/>
          </a:xfrm>
          <a:prstGeom prst="rect">
            <a:avLst/>
          </a:prstGeom>
        </p:spPr>
      </p:pic>
      <p:sp>
        <p:nvSpPr>
          <p:cNvPr id="4" name="Text 1"/>
          <p:cNvSpPr txBox="1"/>
          <p:nvPr/>
        </p:nvSpPr>
        <p:spPr>
          <a:xfrm>
            <a:off x="1252728" y="384048"/>
            <a:ext cx="10436047" cy="256032"/>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TWO QUICK DEFINITIONS</a:t>
            </a:r>
            <a:endParaRPr lang="en-US" sz="1200" dirty="0"/>
          </a:p>
        </p:txBody>
      </p:sp>
      <p:sp>
        <p:nvSpPr>
          <p:cNvPr id="5" name="Text 2"/>
          <p:cNvSpPr txBox="1"/>
          <p:nvPr/>
        </p:nvSpPr>
        <p:spPr>
          <a:xfrm>
            <a:off x="1252728" y="621792"/>
            <a:ext cx="10436047" cy="457200"/>
          </a:xfrm>
          <a:prstGeom prst="rect">
            <a:avLst/>
          </a:prstGeom>
          <a:noFill/>
          <a:ln/>
        </p:spPr>
        <p:txBody>
          <a:bodyPr wrap="square" lIns="0" tIns="0" rIns="0" bIns="0" rtlCol="0" anchor="ctr"/>
          <a:lstStyle/>
          <a:p>
            <a:pPr indent="0" marL="0">
              <a:buNone/>
            </a:pPr>
            <a:r>
              <a:rPr lang="en-US" sz="3000" b="1" dirty="0">
                <a:solidFill>
                  <a:srgbClr val="0B2038"/>
                </a:solidFill>
                <a:latin typeface="Cambria" pitchFamily="34" charset="0"/>
                <a:ea typeface="Cambria" pitchFamily="34" charset="-122"/>
                <a:cs typeface="Cambria" pitchFamily="34" charset="-120"/>
              </a:rPr>
              <a:t>Before the Numbers: Two Terms You’ll See</a:t>
            </a:r>
            <a:endParaRPr lang="en-US" sz="3000" dirty="0"/>
          </a:p>
        </p:txBody>
      </p:sp>
      <p:sp>
        <p:nvSpPr>
          <p:cNvPr id="6" name="Shape 3"/>
          <p:cNvSpPr/>
          <p:nvPr/>
        </p:nvSpPr>
        <p:spPr>
          <a:xfrm>
            <a:off x="502920" y="1600200"/>
            <a:ext cx="5303520" cy="4480560"/>
          </a:xfrm>
          <a:prstGeom prst="roundRect">
            <a:avLst>
              <a:gd name="adj" fmla="val 1633"/>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7" name="Shape 4"/>
          <p:cNvSpPr/>
          <p:nvPr/>
        </p:nvSpPr>
        <p:spPr>
          <a:xfrm>
            <a:off x="777240" y="1874520"/>
            <a:ext cx="502920" cy="502920"/>
          </a:xfrm>
          <a:prstGeom prst="ellipse">
            <a:avLst/>
          </a:prstGeom>
          <a:solidFill>
            <a:srgbClr val="1C7293"/>
          </a:solidFill>
          <a:ln/>
        </p:spPr>
      </p:sp>
      <p:pic>
        <p:nvPicPr>
          <p:cNvPr id="8" name="Image 1" descr="/tmp/claude-1001/-home-npalmass-work-Evol-inference/a73e848c-9ae9-41bb-8cca-4eccbf875541/scratchpad/tensorrt_deck/icon_clock.png">    </p:cNvPr>
          <p:cNvPicPr>
            <a:picLocks noChangeAspect="1"/>
          </p:cNvPicPr>
          <p:nvPr/>
        </p:nvPicPr>
        <p:blipFill>
          <a:blip r:embed="rId2"/>
          <a:stretch>
            <a:fillRect/>
          </a:stretch>
        </p:blipFill>
        <p:spPr>
          <a:xfrm>
            <a:off x="897941" y="1995221"/>
            <a:ext cx="261518" cy="261518"/>
          </a:xfrm>
          <a:prstGeom prst="rect">
            <a:avLst/>
          </a:prstGeom>
        </p:spPr>
      </p:pic>
      <p:sp>
        <p:nvSpPr>
          <p:cNvPr id="9" name="Text 5"/>
          <p:cNvSpPr txBox="1"/>
          <p:nvPr/>
        </p:nvSpPr>
        <p:spPr>
          <a:xfrm>
            <a:off x="1417320" y="1856232"/>
            <a:ext cx="4114800" cy="457200"/>
          </a:xfrm>
          <a:prstGeom prst="rect">
            <a:avLst/>
          </a:prstGeom>
          <a:noFill/>
          <a:ln/>
        </p:spPr>
        <p:txBody>
          <a:bodyPr wrap="square" lIns="0" tIns="0" rIns="0" bIns="0" rtlCol="0" anchor="ctr"/>
          <a:lstStyle/>
          <a:p>
            <a:pPr indent="0" marL="0">
              <a:buNone/>
            </a:pPr>
            <a:r>
              <a:rPr lang="en-US" sz="1700" b="1" dirty="0">
                <a:solidFill>
                  <a:srgbClr val="0B2038"/>
                </a:solidFill>
                <a:latin typeface="Cambria" pitchFamily="34" charset="0"/>
                <a:ea typeface="Cambria" pitchFamily="34" charset="-122"/>
                <a:cs typeface="Cambria" pitchFamily="34" charset="-120"/>
              </a:rPr>
              <a:t>What’s a "Warm-Up"?</a:t>
            </a:r>
            <a:endParaRPr lang="en-US" sz="1700" dirty="0"/>
          </a:p>
        </p:txBody>
      </p:sp>
      <p:sp>
        <p:nvSpPr>
          <p:cNvPr id="10" name="Text 6"/>
          <p:cNvSpPr txBox="1"/>
          <p:nvPr/>
        </p:nvSpPr>
        <p:spPr>
          <a:xfrm>
            <a:off x="777240" y="2468880"/>
            <a:ext cx="4754880" cy="3383280"/>
          </a:xfrm>
          <a:prstGeom prst="rect">
            <a:avLst/>
          </a:prstGeom>
          <a:noFill/>
          <a:ln/>
        </p:spPr>
        <p:txBody>
          <a:bodyPr wrap="square" lIns="0" tIns="0" rIns="0" bIns="0" rtlCol="0" anchor="t"/>
          <a:lstStyle/>
          <a:p>
            <a:pPr indent="0" marL="0">
              <a:lnSpc>
                <a:spcPct val="115000"/>
              </a:lnSpc>
              <a:buNone/>
            </a:pPr>
            <a:r>
              <a:rPr lang="en-US" sz="1300" dirty="0">
                <a:solidFill>
                  <a:srgbClr val="16232E"/>
                </a:solidFill>
                <a:latin typeface="Calibri" pitchFamily="34" charset="0"/>
                <a:ea typeface="Calibri" pitchFamily="34" charset="-122"/>
                <a:cs typeface="Calibri" pitchFamily="34" charset="-120"/>
              </a:rPr>
              <a:t>The very first time any program runs on the GPU, there’s one-time setup overhead — like a car engine on a cold morning, or a printer’s first page taking longer. To measure true, steady-state speed, every benchmark in this project runs a few throwaway "warm-up" passes first, then times many real runs afterward and reports the middle (median) value — so one unlucky slow run doesn’t skew the result.</a:t>
            </a:r>
            <a:endParaRPr lang="en-US" sz="1300" dirty="0"/>
          </a:p>
        </p:txBody>
      </p:sp>
      <p:sp>
        <p:nvSpPr>
          <p:cNvPr id="11" name="Shape 7"/>
          <p:cNvSpPr/>
          <p:nvPr/>
        </p:nvSpPr>
        <p:spPr>
          <a:xfrm>
            <a:off x="6126480" y="1600200"/>
            <a:ext cx="5303520" cy="4480560"/>
          </a:xfrm>
          <a:prstGeom prst="roundRect">
            <a:avLst>
              <a:gd name="adj" fmla="val 1633"/>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12" name="Shape 8"/>
          <p:cNvSpPr/>
          <p:nvPr/>
        </p:nvSpPr>
        <p:spPr>
          <a:xfrm>
            <a:off x="6400800" y="1874520"/>
            <a:ext cx="502920" cy="502920"/>
          </a:xfrm>
          <a:prstGeom prst="ellipse">
            <a:avLst/>
          </a:prstGeom>
          <a:solidFill>
            <a:srgbClr val="F2A93B"/>
          </a:solidFill>
          <a:ln/>
        </p:spPr>
      </p:sp>
      <p:pic>
        <p:nvPicPr>
          <p:cNvPr id="13" name="Image 2" descr="/tmp/claude-1001/-home-npalmass-work-Evol-inference/a73e848c-9ae9-41bb-8cca-4eccbf875541/scratchpad/tensorrt_deck/icon_layers.png">    </p:cNvPr>
          <p:cNvPicPr>
            <a:picLocks noChangeAspect="1"/>
          </p:cNvPicPr>
          <p:nvPr/>
        </p:nvPicPr>
        <p:blipFill>
          <a:blip r:embed="rId3"/>
          <a:stretch>
            <a:fillRect/>
          </a:stretch>
        </p:blipFill>
        <p:spPr>
          <a:xfrm>
            <a:off x="6521501" y="1995221"/>
            <a:ext cx="261518" cy="261518"/>
          </a:xfrm>
          <a:prstGeom prst="rect">
            <a:avLst/>
          </a:prstGeom>
        </p:spPr>
      </p:pic>
      <p:sp>
        <p:nvSpPr>
          <p:cNvPr id="14" name="Text 9"/>
          <p:cNvSpPr txBox="1"/>
          <p:nvPr/>
        </p:nvSpPr>
        <p:spPr>
          <a:xfrm>
            <a:off x="7040880" y="1856232"/>
            <a:ext cx="4114800" cy="457200"/>
          </a:xfrm>
          <a:prstGeom prst="rect">
            <a:avLst/>
          </a:prstGeom>
          <a:noFill/>
          <a:ln/>
        </p:spPr>
        <p:txBody>
          <a:bodyPr wrap="square" lIns="0" tIns="0" rIns="0" bIns="0" rtlCol="0" anchor="ctr"/>
          <a:lstStyle/>
          <a:p>
            <a:pPr indent="0" marL="0">
              <a:buNone/>
            </a:pPr>
            <a:r>
              <a:rPr lang="en-US" sz="1700" b="1" dirty="0">
                <a:solidFill>
                  <a:srgbClr val="0B2038"/>
                </a:solidFill>
                <a:latin typeface="Cambria" pitchFamily="34" charset="0"/>
                <a:ea typeface="Cambria" pitchFamily="34" charset="-122"/>
                <a:cs typeface="Cambria" pitchFamily="34" charset="-120"/>
              </a:rPr>
              <a:t>What’s a "Group Size"?</a:t>
            </a:r>
            <a:endParaRPr lang="en-US" sz="1700" dirty="0"/>
          </a:p>
        </p:txBody>
      </p:sp>
      <p:sp>
        <p:nvSpPr>
          <p:cNvPr id="15" name="Text 10"/>
          <p:cNvSpPr txBox="1"/>
          <p:nvPr/>
        </p:nvSpPr>
        <p:spPr>
          <a:xfrm>
            <a:off x="6400800" y="2468880"/>
            <a:ext cx="4754880" cy="3383280"/>
          </a:xfrm>
          <a:prstGeom prst="rect">
            <a:avLst/>
          </a:prstGeom>
          <a:noFill/>
          <a:ln/>
        </p:spPr>
        <p:txBody>
          <a:bodyPr wrap="square" lIns="0" tIns="0" rIns="0" bIns="0" rtlCol="0" anchor="t"/>
          <a:lstStyle/>
          <a:p>
            <a:pPr indent="0" marL="0">
              <a:lnSpc>
                <a:spcPct val="115000"/>
              </a:lnSpc>
              <a:buNone/>
            </a:pPr>
            <a:r>
              <a:rPr lang="en-US" sz="1300" dirty="0">
                <a:solidFill>
                  <a:srgbClr val="16232E"/>
                </a:solidFill>
                <a:latin typeface="Calibri" pitchFamily="34" charset="0"/>
                <a:ea typeface="Calibri" pitchFamily="34" charset="-122"/>
                <a:cs typeface="Calibri" pitchFamily="34" charset="-120"/>
              </a:rPr>
              <a:t>Instead of one single conversion factor for an entire giant list of weights, the numbers are split into small neighborhoods of 128, and each neighborhood gets its own tiny scale — like a local exchange rate per city block instead of one rate for an entire country. Smaller groups keep more accuracy; this project uses 128 as a standard, well-understood balance of accuracy and storage cost.</a:t>
            </a:r>
            <a:endParaRPr lang="en-US" sz="1300" dirty="0"/>
          </a:p>
        </p:txBody>
      </p:sp>
      <p:sp>
        <p:nvSpPr>
          <p:cNvPr id="16" name="Text 11"/>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TensorRT_plugin — Engineering Results Overview</a:t>
            </a:r>
            <a:endParaRPr lang="en-US" sz="1000" dirty="0"/>
          </a:p>
        </p:txBody>
      </p:sp>
      <p:sp>
        <p:nvSpPr>
          <p:cNvPr id="17" name="Text 12"/>
          <p:cNvSpPr txBox="1"/>
          <p:nvPr/>
        </p:nvSpPr>
        <p:spPr>
          <a:xfrm>
            <a:off x="11460175" y="6446520"/>
            <a:ext cx="4572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C7293"/>
          </a:solidFill>
          <a:ln/>
        </p:spPr>
      </p:sp>
      <p:pic>
        <p:nvPicPr>
          <p:cNvPr id="3" name="Image 0" descr="/tmp/claude-1001/-home-npalmass-work-Evol-inference/a73e848c-9ae9-41bb-8cca-4eccbf875541/scratchpad/tensorrt_deck/icon_puzzle.png">    </p:cNvPr>
          <p:cNvPicPr>
            <a:picLocks noChangeAspect="1"/>
          </p:cNvPicPr>
          <p:nvPr/>
        </p:nvPicPr>
        <p:blipFill>
          <a:blip r:embed="rId1"/>
          <a:stretch>
            <a:fillRect/>
          </a:stretch>
        </p:blipFill>
        <p:spPr>
          <a:xfrm>
            <a:off x="638983" y="520111"/>
            <a:ext cx="294803" cy="294803"/>
          </a:xfrm>
          <a:prstGeom prst="rect">
            <a:avLst/>
          </a:prstGeom>
        </p:spPr>
      </p:pic>
      <p:sp>
        <p:nvSpPr>
          <p:cNvPr id="4" name="Text 1"/>
          <p:cNvSpPr txBox="1"/>
          <p:nvPr/>
        </p:nvSpPr>
        <p:spPr>
          <a:xfrm>
            <a:off x="1252728" y="384048"/>
            <a:ext cx="10436047" cy="256032"/>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HOW IT FITS TOGETHER</a:t>
            </a:r>
            <a:endParaRPr lang="en-US" sz="1200" dirty="0"/>
          </a:p>
        </p:txBody>
      </p:sp>
      <p:sp>
        <p:nvSpPr>
          <p:cNvPr id="5" name="Text 2"/>
          <p:cNvSpPr txBox="1"/>
          <p:nvPr/>
        </p:nvSpPr>
        <p:spPr>
          <a:xfrm>
            <a:off x="1252728" y="621792"/>
            <a:ext cx="10436047" cy="457200"/>
          </a:xfrm>
          <a:prstGeom prst="rect">
            <a:avLst/>
          </a:prstGeom>
          <a:noFill/>
          <a:ln/>
        </p:spPr>
        <p:txBody>
          <a:bodyPr wrap="square" lIns="0" tIns="0" rIns="0" bIns="0" rtlCol="0" anchor="ctr"/>
          <a:lstStyle/>
          <a:p>
            <a:pPr indent="0" marL="0">
              <a:buNone/>
            </a:pPr>
            <a:r>
              <a:rPr lang="en-US" sz="3000" b="1" dirty="0">
                <a:solidFill>
                  <a:srgbClr val="0B2038"/>
                </a:solidFill>
                <a:latin typeface="Cambria" pitchFamily="34" charset="0"/>
                <a:ea typeface="Cambria" pitchFamily="34" charset="-122"/>
                <a:cs typeface="Cambria" pitchFamily="34" charset="-120"/>
              </a:rPr>
              <a:t>From Model Weights to a Running Server</a:t>
            </a:r>
            <a:endParaRPr lang="en-US" sz="3000" dirty="0"/>
          </a:p>
        </p:txBody>
      </p:sp>
      <p:sp>
        <p:nvSpPr>
          <p:cNvPr id="6" name="Shape 3"/>
          <p:cNvSpPr/>
          <p:nvPr/>
        </p:nvSpPr>
        <p:spPr>
          <a:xfrm>
            <a:off x="870052" y="1691640"/>
            <a:ext cx="1783080" cy="868680"/>
          </a:xfrm>
          <a:prstGeom prst="roundRect">
            <a:avLst>
              <a:gd name="adj" fmla="val 10526"/>
            </a:avLst>
          </a:prstGeom>
          <a:solidFill>
            <a:srgbClr val="0B2038"/>
          </a:solidFill>
          <a:ln/>
        </p:spPr>
      </p:sp>
      <p:sp>
        <p:nvSpPr>
          <p:cNvPr id="7" name="Text 4"/>
          <p:cNvSpPr txBox="1"/>
          <p:nvPr/>
        </p:nvSpPr>
        <p:spPr>
          <a:xfrm>
            <a:off x="870052" y="1691640"/>
            <a:ext cx="1783080"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Quantized</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Weights</a:t>
            </a:r>
            <a:endParaRPr lang="en-US" sz="1300" dirty="0"/>
          </a:p>
        </p:txBody>
      </p:sp>
      <p:sp>
        <p:nvSpPr>
          <p:cNvPr id="8" name="Text 5"/>
          <p:cNvSpPr txBox="1"/>
          <p:nvPr/>
        </p:nvSpPr>
        <p:spPr>
          <a:xfrm>
            <a:off x="2653132" y="1691640"/>
            <a:ext cx="384048" cy="868680"/>
          </a:xfrm>
          <a:prstGeom prst="rect">
            <a:avLst/>
          </a:prstGeom>
          <a:noFill/>
          <a:ln/>
        </p:spPr>
        <p:txBody>
          <a:bodyPr wrap="square" lIns="0" tIns="0" rIns="0" bIns="0" rtlCol="0" anchor="ctr"/>
          <a:lstStyle/>
          <a:p>
            <a:pPr algn="ctr" indent="0" marL="0">
              <a:buNone/>
            </a:pPr>
            <a:r>
              <a:rPr lang="en-US" sz="2000" b="1" dirty="0">
                <a:solidFill>
                  <a:srgbClr val="5B6B7A"/>
                </a:solidFill>
                <a:latin typeface="Calibri" pitchFamily="34" charset="0"/>
                <a:ea typeface="Calibri" pitchFamily="34" charset="-122"/>
                <a:cs typeface="Calibri" pitchFamily="34" charset="-120"/>
              </a:rPr>
              <a:t>→</a:t>
            </a:r>
            <a:endParaRPr lang="en-US" sz="2000" dirty="0"/>
          </a:p>
        </p:txBody>
      </p:sp>
      <p:sp>
        <p:nvSpPr>
          <p:cNvPr id="9" name="Shape 6"/>
          <p:cNvSpPr/>
          <p:nvPr/>
        </p:nvSpPr>
        <p:spPr>
          <a:xfrm>
            <a:off x="3037180" y="1691640"/>
            <a:ext cx="1783080" cy="868680"/>
          </a:xfrm>
          <a:prstGeom prst="roundRect">
            <a:avLst>
              <a:gd name="adj" fmla="val 10526"/>
            </a:avLst>
          </a:prstGeom>
          <a:solidFill>
            <a:srgbClr val="0B2038"/>
          </a:solidFill>
          <a:ln/>
        </p:spPr>
      </p:sp>
      <p:sp>
        <p:nvSpPr>
          <p:cNvPr id="10" name="Text 7"/>
          <p:cNvSpPr txBox="1"/>
          <p:nvPr/>
        </p:nvSpPr>
        <p:spPr>
          <a:xfrm>
            <a:off x="3037180" y="1691640"/>
            <a:ext cx="1783080"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CUDA</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Kernel</a:t>
            </a:r>
            <a:endParaRPr lang="en-US" sz="1300" dirty="0"/>
          </a:p>
        </p:txBody>
      </p:sp>
      <p:sp>
        <p:nvSpPr>
          <p:cNvPr id="11" name="Text 8"/>
          <p:cNvSpPr txBox="1"/>
          <p:nvPr/>
        </p:nvSpPr>
        <p:spPr>
          <a:xfrm>
            <a:off x="4820260" y="1691640"/>
            <a:ext cx="384048" cy="868680"/>
          </a:xfrm>
          <a:prstGeom prst="rect">
            <a:avLst/>
          </a:prstGeom>
          <a:noFill/>
          <a:ln/>
        </p:spPr>
        <p:txBody>
          <a:bodyPr wrap="square" lIns="0" tIns="0" rIns="0" bIns="0" rtlCol="0" anchor="ctr"/>
          <a:lstStyle/>
          <a:p>
            <a:pPr algn="ctr" indent="0" marL="0">
              <a:buNone/>
            </a:pPr>
            <a:r>
              <a:rPr lang="en-US" sz="2000" b="1" dirty="0">
                <a:solidFill>
                  <a:srgbClr val="5B6B7A"/>
                </a:solidFill>
                <a:latin typeface="Calibri" pitchFamily="34" charset="0"/>
                <a:ea typeface="Calibri" pitchFamily="34" charset="-122"/>
                <a:cs typeface="Calibri" pitchFamily="34" charset="-120"/>
              </a:rPr>
              <a:t>→</a:t>
            </a:r>
            <a:endParaRPr lang="en-US" sz="2000" dirty="0"/>
          </a:p>
        </p:txBody>
      </p:sp>
      <p:sp>
        <p:nvSpPr>
          <p:cNvPr id="12" name="Shape 9"/>
          <p:cNvSpPr/>
          <p:nvPr/>
        </p:nvSpPr>
        <p:spPr>
          <a:xfrm>
            <a:off x="5204308" y="1691640"/>
            <a:ext cx="1783080" cy="868680"/>
          </a:xfrm>
          <a:prstGeom prst="roundRect">
            <a:avLst>
              <a:gd name="adj" fmla="val 10526"/>
            </a:avLst>
          </a:prstGeom>
          <a:solidFill>
            <a:srgbClr val="1C7293"/>
          </a:solidFill>
          <a:ln/>
        </p:spPr>
      </p:sp>
      <p:sp>
        <p:nvSpPr>
          <p:cNvPr id="13" name="Text 10"/>
          <p:cNvSpPr txBox="1"/>
          <p:nvPr/>
        </p:nvSpPr>
        <p:spPr>
          <a:xfrm>
            <a:off x="5204308" y="1691640"/>
            <a:ext cx="1783080"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TensorRT</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Plugin</a:t>
            </a:r>
            <a:endParaRPr lang="en-US" sz="1300" dirty="0"/>
          </a:p>
        </p:txBody>
      </p:sp>
      <p:sp>
        <p:nvSpPr>
          <p:cNvPr id="14" name="Text 11"/>
          <p:cNvSpPr txBox="1"/>
          <p:nvPr/>
        </p:nvSpPr>
        <p:spPr>
          <a:xfrm>
            <a:off x="6987388" y="1691640"/>
            <a:ext cx="384048" cy="868680"/>
          </a:xfrm>
          <a:prstGeom prst="rect">
            <a:avLst/>
          </a:prstGeom>
          <a:noFill/>
          <a:ln/>
        </p:spPr>
        <p:txBody>
          <a:bodyPr wrap="square" lIns="0" tIns="0" rIns="0" bIns="0" rtlCol="0" anchor="ctr"/>
          <a:lstStyle/>
          <a:p>
            <a:pPr algn="ctr" indent="0" marL="0">
              <a:buNone/>
            </a:pPr>
            <a:r>
              <a:rPr lang="en-US" sz="2000" b="1" dirty="0">
                <a:solidFill>
                  <a:srgbClr val="5B6B7A"/>
                </a:solidFill>
                <a:latin typeface="Calibri" pitchFamily="34" charset="0"/>
                <a:ea typeface="Calibri" pitchFamily="34" charset="-122"/>
                <a:cs typeface="Calibri" pitchFamily="34" charset="-120"/>
              </a:rPr>
              <a:t>→</a:t>
            </a:r>
            <a:endParaRPr lang="en-US" sz="2000" dirty="0"/>
          </a:p>
        </p:txBody>
      </p:sp>
      <p:sp>
        <p:nvSpPr>
          <p:cNvPr id="15" name="Shape 12"/>
          <p:cNvSpPr/>
          <p:nvPr/>
        </p:nvSpPr>
        <p:spPr>
          <a:xfrm>
            <a:off x="7371436" y="1691640"/>
            <a:ext cx="1783080" cy="868680"/>
          </a:xfrm>
          <a:prstGeom prst="roundRect">
            <a:avLst>
              <a:gd name="adj" fmla="val 10526"/>
            </a:avLst>
          </a:prstGeom>
          <a:solidFill>
            <a:srgbClr val="1C7293"/>
          </a:solidFill>
          <a:ln/>
        </p:spPr>
      </p:sp>
      <p:sp>
        <p:nvSpPr>
          <p:cNvPr id="16" name="Text 13"/>
          <p:cNvSpPr txBox="1"/>
          <p:nvPr/>
        </p:nvSpPr>
        <p:spPr>
          <a:xfrm>
            <a:off x="7371436" y="1691640"/>
            <a:ext cx="1783080"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TensorRT</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Engine</a:t>
            </a:r>
            <a:endParaRPr lang="en-US" sz="1300" dirty="0"/>
          </a:p>
        </p:txBody>
      </p:sp>
      <p:sp>
        <p:nvSpPr>
          <p:cNvPr id="17" name="Text 14"/>
          <p:cNvSpPr txBox="1"/>
          <p:nvPr/>
        </p:nvSpPr>
        <p:spPr>
          <a:xfrm>
            <a:off x="9154516" y="1691640"/>
            <a:ext cx="384048" cy="868680"/>
          </a:xfrm>
          <a:prstGeom prst="rect">
            <a:avLst/>
          </a:prstGeom>
          <a:noFill/>
          <a:ln/>
        </p:spPr>
        <p:txBody>
          <a:bodyPr wrap="square" lIns="0" tIns="0" rIns="0" bIns="0" rtlCol="0" anchor="ctr"/>
          <a:lstStyle/>
          <a:p>
            <a:pPr algn="ctr" indent="0" marL="0">
              <a:buNone/>
            </a:pPr>
            <a:r>
              <a:rPr lang="en-US" sz="2000" b="1" dirty="0">
                <a:solidFill>
                  <a:srgbClr val="5B6B7A"/>
                </a:solidFill>
                <a:latin typeface="Calibri" pitchFamily="34" charset="0"/>
                <a:ea typeface="Calibri" pitchFamily="34" charset="-122"/>
                <a:cs typeface="Calibri" pitchFamily="34" charset="-120"/>
              </a:rPr>
              <a:t>→</a:t>
            </a:r>
            <a:endParaRPr lang="en-US" sz="2000" dirty="0"/>
          </a:p>
        </p:txBody>
      </p:sp>
      <p:sp>
        <p:nvSpPr>
          <p:cNvPr id="18" name="Shape 15"/>
          <p:cNvSpPr/>
          <p:nvPr/>
        </p:nvSpPr>
        <p:spPr>
          <a:xfrm>
            <a:off x="9538564" y="1691640"/>
            <a:ext cx="1783080" cy="868680"/>
          </a:xfrm>
          <a:prstGeom prst="roundRect">
            <a:avLst>
              <a:gd name="adj" fmla="val 10526"/>
            </a:avLst>
          </a:prstGeom>
          <a:solidFill>
            <a:srgbClr val="1C7293"/>
          </a:solidFill>
          <a:ln/>
        </p:spPr>
      </p:sp>
      <p:sp>
        <p:nvSpPr>
          <p:cNvPr id="19" name="Text 16"/>
          <p:cNvSpPr txBox="1"/>
          <p:nvPr/>
        </p:nvSpPr>
        <p:spPr>
          <a:xfrm>
            <a:off x="9538564" y="1691640"/>
            <a:ext cx="1783080"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Harness</a:t>
            </a:r>
            <a:endParaRPr lang="en-US" sz="1300" dirty="0"/>
          </a:p>
        </p:txBody>
      </p:sp>
      <p:sp>
        <p:nvSpPr>
          <p:cNvPr id="20" name="Text 17"/>
          <p:cNvSpPr txBox="1"/>
          <p:nvPr/>
        </p:nvSpPr>
        <p:spPr>
          <a:xfrm>
            <a:off x="6091276" y="2697480"/>
            <a:ext cx="3291840" cy="274320"/>
          </a:xfrm>
          <a:prstGeom prst="rect">
            <a:avLst/>
          </a:prstGeom>
          <a:noFill/>
          <a:ln/>
        </p:spPr>
        <p:txBody>
          <a:bodyPr wrap="square" lIns="0" tIns="0" rIns="0" bIns="0" rtlCol="0" anchor="ctr"/>
          <a:lstStyle/>
          <a:p>
            <a:pPr algn="r" indent="0" marL="0">
              <a:buNone/>
            </a:pPr>
            <a:r>
              <a:rPr lang="en-US" sz="1100" i="1" dirty="0">
                <a:solidFill>
                  <a:srgbClr val="5B6B7A"/>
                </a:solidFill>
                <a:latin typeface="Calibri" pitchFamily="34" charset="0"/>
                <a:ea typeface="Calibri" pitchFamily="34" charset="-122"/>
                <a:cs typeface="Calibri" pitchFamily="34" charset="-120"/>
              </a:rPr>
              <a:t>serves many requests at once, in parallel →</a:t>
            </a:r>
            <a:endParaRPr lang="en-US" sz="1100" dirty="0"/>
          </a:p>
        </p:txBody>
      </p:sp>
      <p:sp>
        <p:nvSpPr>
          <p:cNvPr id="21" name="Shape 18"/>
          <p:cNvSpPr/>
          <p:nvPr/>
        </p:nvSpPr>
        <p:spPr>
          <a:xfrm>
            <a:off x="7718908" y="3063240"/>
            <a:ext cx="777240" cy="411480"/>
          </a:xfrm>
          <a:prstGeom prst="roundRect">
            <a:avLst>
              <a:gd name="adj" fmla="val 13333"/>
            </a:avLst>
          </a:prstGeom>
          <a:solidFill>
            <a:srgbClr val="F2A93B"/>
          </a:solidFill>
          <a:ln/>
        </p:spPr>
      </p:sp>
      <p:sp>
        <p:nvSpPr>
          <p:cNvPr id="22" name="Text 19"/>
          <p:cNvSpPr txBox="1"/>
          <p:nvPr/>
        </p:nvSpPr>
        <p:spPr>
          <a:xfrm>
            <a:off x="7718908" y="3063240"/>
            <a:ext cx="777240" cy="411480"/>
          </a:xfrm>
          <a:prstGeom prst="rect">
            <a:avLst/>
          </a:prstGeom>
          <a:noFill/>
          <a:ln/>
        </p:spPr>
        <p:txBody>
          <a:bodyPr wrap="square" lIns="0" tIns="0" rIns="0" bIns="0" rtlCol="0" anchor="ctr"/>
          <a:lstStyle/>
          <a:p>
            <a:pPr algn="ctr" indent="0" marL="0">
              <a:buNone/>
            </a:pPr>
            <a:r>
              <a:rPr lang="en-US" sz="1050" b="1" dirty="0">
                <a:solidFill>
                  <a:srgbClr val="0B2038"/>
                </a:solidFill>
                <a:latin typeface="Calibri" pitchFamily="34" charset="0"/>
                <a:ea typeface="Calibri" pitchFamily="34" charset="-122"/>
                <a:cs typeface="Calibri" pitchFamily="34" charset="-120"/>
              </a:rPr>
              <a:t>Req 1</a:t>
            </a:r>
            <a:endParaRPr lang="en-US" sz="1050" dirty="0"/>
          </a:p>
        </p:txBody>
      </p:sp>
      <p:sp>
        <p:nvSpPr>
          <p:cNvPr id="23" name="Shape 20"/>
          <p:cNvSpPr/>
          <p:nvPr/>
        </p:nvSpPr>
        <p:spPr>
          <a:xfrm>
            <a:off x="8660740" y="3063240"/>
            <a:ext cx="777240" cy="411480"/>
          </a:xfrm>
          <a:prstGeom prst="roundRect">
            <a:avLst>
              <a:gd name="adj" fmla="val 13333"/>
            </a:avLst>
          </a:prstGeom>
          <a:solidFill>
            <a:srgbClr val="F2A93B"/>
          </a:solidFill>
          <a:ln/>
        </p:spPr>
      </p:sp>
      <p:sp>
        <p:nvSpPr>
          <p:cNvPr id="24" name="Text 21"/>
          <p:cNvSpPr txBox="1"/>
          <p:nvPr/>
        </p:nvSpPr>
        <p:spPr>
          <a:xfrm>
            <a:off x="8660740" y="3063240"/>
            <a:ext cx="777240" cy="411480"/>
          </a:xfrm>
          <a:prstGeom prst="rect">
            <a:avLst/>
          </a:prstGeom>
          <a:noFill/>
          <a:ln/>
        </p:spPr>
        <p:txBody>
          <a:bodyPr wrap="square" lIns="0" tIns="0" rIns="0" bIns="0" rtlCol="0" anchor="ctr"/>
          <a:lstStyle/>
          <a:p>
            <a:pPr algn="ctr" indent="0" marL="0">
              <a:buNone/>
            </a:pPr>
            <a:r>
              <a:rPr lang="en-US" sz="1050" b="1" dirty="0">
                <a:solidFill>
                  <a:srgbClr val="0B2038"/>
                </a:solidFill>
                <a:latin typeface="Calibri" pitchFamily="34" charset="0"/>
                <a:ea typeface="Calibri" pitchFamily="34" charset="-122"/>
                <a:cs typeface="Calibri" pitchFamily="34" charset="-120"/>
              </a:rPr>
              <a:t>Req 2</a:t>
            </a:r>
            <a:endParaRPr lang="en-US" sz="1050" dirty="0"/>
          </a:p>
        </p:txBody>
      </p:sp>
      <p:sp>
        <p:nvSpPr>
          <p:cNvPr id="25" name="Shape 22"/>
          <p:cNvSpPr/>
          <p:nvPr/>
        </p:nvSpPr>
        <p:spPr>
          <a:xfrm>
            <a:off x="9602572" y="3063240"/>
            <a:ext cx="777240" cy="411480"/>
          </a:xfrm>
          <a:prstGeom prst="roundRect">
            <a:avLst>
              <a:gd name="adj" fmla="val 13333"/>
            </a:avLst>
          </a:prstGeom>
          <a:solidFill>
            <a:srgbClr val="F2A93B"/>
          </a:solidFill>
          <a:ln/>
        </p:spPr>
      </p:sp>
      <p:sp>
        <p:nvSpPr>
          <p:cNvPr id="26" name="Text 23"/>
          <p:cNvSpPr txBox="1"/>
          <p:nvPr/>
        </p:nvSpPr>
        <p:spPr>
          <a:xfrm>
            <a:off x="9602572" y="3063240"/>
            <a:ext cx="777240" cy="411480"/>
          </a:xfrm>
          <a:prstGeom prst="rect">
            <a:avLst/>
          </a:prstGeom>
          <a:noFill/>
          <a:ln/>
        </p:spPr>
        <p:txBody>
          <a:bodyPr wrap="square" lIns="0" tIns="0" rIns="0" bIns="0" rtlCol="0" anchor="ctr"/>
          <a:lstStyle/>
          <a:p>
            <a:pPr algn="ctr" indent="0" marL="0">
              <a:buNone/>
            </a:pPr>
            <a:r>
              <a:rPr lang="en-US" sz="1050" b="1" dirty="0">
                <a:solidFill>
                  <a:srgbClr val="0B2038"/>
                </a:solidFill>
                <a:latin typeface="Calibri" pitchFamily="34" charset="0"/>
                <a:ea typeface="Calibri" pitchFamily="34" charset="-122"/>
                <a:cs typeface="Calibri" pitchFamily="34" charset="-120"/>
              </a:rPr>
              <a:t>Req 3</a:t>
            </a:r>
            <a:endParaRPr lang="en-US" sz="1050" dirty="0"/>
          </a:p>
        </p:txBody>
      </p:sp>
      <p:sp>
        <p:nvSpPr>
          <p:cNvPr id="27" name="Shape 24"/>
          <p:cNvSpPr/>
          <p:nvPr/>
        </p:nvSpPr>
        <p:spPr>
          <a:xfrm>
            <a:off x="10544404" y="3063240"/>
            <a:ext cx="777240" cy="411480"/>
          </a:xfrm>
          <a:prstGeom prst="roundRect">
            <a:avLst>
              <a:gd name="adj" fmla="val 13333"/>
            </a:avLst>
          </a:prstGeom>
          <a:solidFill>
            <a:srgbClr val="F2A93B"/>
          </a:solidFill>
          <a:ln/>
        </p:spPr>
      </p:sp>
      <p:sp>
        <p:nvSpPr>
          <p:cNvPr id="28" name="Text 25"/>
          <p:cNvSpPr txBox="1"/>
          <p:nvPr/>
        </p:nvSpPr>
        <p:spPr>
          <a:xfrm>
            <a:off x="10544404" y="3063240"/>
            <a:ext cx="777240" cy="411480"/>
          </a:xfrm>
          <a:prstGeom prst="rect">
            <a:avLst/>
          </a:prstGeom>
          <a:noFill/>
          <a:ln/>
        </p:spPr>
        <p:txBody>
          <a:bodyPr wrap="square" lIns="0" tIns="0" rIns="0" bIns="0" rtlCol="0" anchor="ctr"/>
          <a:lstStyle/>
          <a:p>
            <a:pPr algn="ctr" indent="0" marL="0">
              <a:buNone/>
            </a:pPr>
            <a:r>
              <a:rPr lang="en-US" sz="1050" b="1" dirty="0">
                <a:solidFill>
                  <a:srgbClr val="0B2038"/>
                </a:solidFill>
                <a:latin typeface="Calibri" pitchFamily="34" charset="0"/>
                <a:ea typeface="Calibri" pitchFamily="34" charset="-122"/>
                <a:cs typeface="Calibri" pitchFamily="34" charset="-120"/>
              </a:rPr>
              <a:t>Req 4</a:t>
            </a:r>
            <a:endParaRPr lang="en-US" sz="1050" dirty="0"/>
          </a:p>
        </p:txBody>
      </p:sp>
      <p:sp>
        <p:nvSpPr>
          <p:cNvPr id="29" name="Shape 26"/>
          <p:cNvSpPr/>
          <p:nvPr/>
        </p:nvSpPr>
        <p:spPr>
          <a:xfrm>
            <a:off x="502920" y="3703320"/>
            <a:ext cx="5303520" cy="2377440"/>
          </a:xfrm>
          <a:prstGeom prst="roundRect">
            <a:avLst>
              <a:gd name="adj" fmla="val 3077"/>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30" name="Shape 27"/>
          <p:cNvSpPr/>
          <p:nvPr/>
        </p:nvSpPr>
        <p:spPr>
          <a:xfrm>
            <a:off x="777240" y="3977640"/>
            <a:ext cx="502920" cy="502920"/>
          </a:xfrm>
          <a:prstGeom prst="ellipse">
            <a:avLst/>
          </a:prstGeom>
          <a:solidFill>
            <a:srgbClr val="1C7293"/>
          </a:solidFill>
          <a:ln/>
        </p:spPr>
      </p:sp>
      <p:pic>
        <p:nvPicPr>
          <p:cNvPr id="31" name="Image 1" descr="/tmp/claude-1001/-home-npalmass-work-Evol-inference/a73e848c-9ae9-41bb-8cca-4eccbf875541/scratchpad/tensorrt_deck/icon_puzzle.png">    </p:cNvPr>
          <p:cNvPicPr>
            <a:picLocks noChangeAspect="1"/>
          </p:cNvPicPr>
          <p:nvPr/>
        </p:nvPicPr>
        <p:blipFill>
          <a:blip r:embed="rId2"/>
          <a:stretch>
            <a:fillRect/>
          </a:stretch>
        </p:blipFill>
        <p:spPr>
          <a:xfrm>
            <a:off x="897941" y="4098341"/>
            <a:ext cx="261518" cy="261518"/>
          </a:xfrm>
          <a:prstGeom prst="rect">
            <a:avLst/>
          </a:prstGeom>
        </p:spPr>
      </p:pic>
      <p:sp>
        <p:nvSpPr>
          <p:cNvPr id="32" name="Text 28"/>
          <p:cNvSpPr txBox="1"/>
          <p:nvPr/>
        </p:nvSpPr>
        <p:spPr>
          <a:xfrm>
            <a:off x="1417320" y="3959352"/>
            <a:ext cx="4114800" cy="457200"/>
          </a:xfrm>
          <a:prstGeom prst="rect">
            <a:avLst/>
          </a:prstGeom>
          <a:noFill/>
          <a:ln/>
        </p:spPr>
        <p:txBody>
          <a:bodyPr wrap="square" lIns="0" tIns="0" rIns="0" bIns="0" rtlCol="0" anchor="ctr"/>
          <a:lstStyle/>
          <a:p>
            <a:pPr indent="0" marL="0">
              <a:buNone/>
            </a:pPr>
            <a:r>
              <a:rPr lang="en-US" sz="1700" b="1" dirty="0">
                <a:solidFill>
                  <a:srgbClr val="0B2038"/>
                </a:solidFill>
                <a:latin typeface="Cambria" pitchFamily="34" charset="0"/>
                <a:ea typeface="Cambria" pitchFamily="34" charset="-122"/>
                <a:cs typeface="Cambria" pitchFamily="34" charset="-120"/>
              </a:rPr>
              <a:t>What’s a "Plugin"?</a:t>
            </a:r>
            <a:endParaRPr lang="en-US" sz="1700" dirty="0"/>
          </a:p>
        </p:txBody>
      </p:sp>
      <p:sp>
        <p:nvSpPr>
          <p:cNvPr id="33" name="Text 29"/>
          <p:cNvSpPr txBox="1"/>
          <p:nvPr/>
        </p:nvSpPr>
        <p:spPr>
          <a:xfrm>
            <a:off x="777240" y="4572000"/>
            <a:ext cx="4754880" cy="1280160"/>
          </a:xfrm>
          <a:prstGeom prst="rect">
            <a:avLst/>
          </a:prstGeom>
          <a:noFill/>
          <a:ln/>
        </p:spPr>
        <p:txBody>
          <a:bodyPr wrap="square" lIns="0" tIns="0" rIns="0" bIns="0" rtlCol="0" anchor="t"/>
          <a:lstStyle/>
          <a:p>
            <a:pPr indent="0" marL="0">
              <a:lnSpc>
                <a:spcPct val="115000"/>
              </a:lnSpc>
              <a:buNone/>
            </a:pPr>
            <a:r>
              <a:rPr lang="en-US" sz="1300" dirty="0">
                <a:solidFill>
                  <a:srgbClr val="16232E"/>
                </a:solidFill>
                <a:latin typeface="Calibri" pitchFamily="34" charset="0"/>
                <a:ea typeface="Calibri" pitchFamily="34" charset="-122"/>
                <a:cs typeface="Calibri" pitchFamily="34" charset="-120"/>
              </a:rPr>
              <a:t>TensorRT is NVIDIA’s automatic deployment optimizer — but it doesn’t know our custom operation out of the box. A plugin teaches it a brand-new building block, the same way installing an add-on lets a photo editor open a file format it wasn’t originally built to handle.</a:t>
            </a:r>
            <a:endParaRPr lang="en-US" sz="1300" dirty="0"/>
          </a:p>
        </p:txBody>
      </p:sp>
      <p:sp>
        <p:nvSpPr>
          <p:cNvPr id="34" name="Shape 30"/>
          <p:cNvSpPr/>
          <p:nvPr/>
        </p:nvSpPr>
        <p:spPr>
          <a:xfrm>
            <a:off x="6126480" y="3703320"/>
            <a:ext cx="5303520" cy="2377440"/>
          </a:xfrm>
          <a:prstGeom prst="roundRect">
            <a:avLst>
              <a:gd name="adj" fmla="val 3077"/>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35" name="Shape 31"/>
          <p:cNvSpPr/>
          <p:nvPr/>
        </p:nvSpPr>
        <p:spPr>
          <a:xfrm>
            <a:off x="6400800" y="3977640"/>
            <a:ext cx="502920" cy="502920"/>
          </a:xfrm>
          <a:prstGeom prst="ellipse">
            <a:avLst/>
          </a:prstGeom>
          <a:solidFill>
            <a:srgbClr val="F2A93B"/>
          </a:solidFill>
          <a:ln/>
        </p:spPr>
      </p:sp>
      <p:pic>
        <p:nvPicPr>
          <p:cNvPr id="36" name="Image 2" descr="/tmp/claude-1001/-home-npalmass-work-Evol-inference/a73e848c-9ae9-41bb-8cca-4eccbf875541/scratchpad/tensorrt_deck/icon_server.png">    </p:cNvPr>
          <p:cNvPicPr>
            <a:picLocks noChangeAspect="1"/>
          </p:cNvPicPr>
          <p:nvPr/>
        </p:nvPicPr>
        <p:blipFill>
          <a:blip r:embed="rId3"/>
          <a:stretch>
            <a:fillRect/>
          </a:stretch>
        </p:blipFill>
        <p:spPr>
          <a:xfrm>
            <a:off x="6521501" y="4098341"/>
            <a:ext cx="261518" cy="261518"/>
          </a:xfrm>
          <a:prstGeom prst="rect">
            <a:avLst/>
          </a:prstGeom>
        </p:spPr>
      </p:pic>
      <p:sp>
        <p:nvSpPr>
          <p:cNvPr id="37" name="Text 32"/>
          <p:cNvSpPr txBox="1"/>
          <p:nvPr/>
        </p:nvSpPr>
        <p:spPr>
          <a:xfrm>
            <a:off x="7040880" y="3959352"/>
            <a:ext cx="4114800" cy="457200"/>
          </a:xfrm>
          <a:prstGeom prst="rect">
            <a:avLst/>
          </a:prstGeom>
          <a:noFill/>
          <a:ln/>
        </p:spPr>
        <p:txBody>
          <a:bodyPr wrap="square" lIns="0" tIns="0" rIns="0" bIns="0" rtlCol="0" anchor="ctr"/>
          <a:lstStyle/>
          <a:p>
            <a:pPr indent="0" marL="0">
              <a:buNone/>
            </a:pPr>
            <a:r>
              <a:rPr lang="en-US" sz="1700" b="1" dirty="0">
                <a:solidFill>
                  <a:srgbClr val="0B2038"/>
                </a:solidFill>
                <a:latin typeface="Cambria" pitchFamily="34" charset="0"/>
                <a:ea typeface="Cambria" pitchFamily="34" charset="-122"/>
                <a:cs typeface="Cambria" pitchFamily="34" charset="-120"/>
              </a:rPr>
              <a:t>What’s an "Inference Harness"?</a:t>
            </a:r>
            <a:endParaRPr lang="en-US" sz="1700" dirty="0"/>
          </a:p>
        </p:txBody>
      </p:sp>
      <p:sp>
        <p:nvSpPr>
          <p:cNvPr id="38" name="Text 33"/>
          <p:cNvSpPr txBox="1"/>
          <p:nvPr/>
        </p:nvSpPr>
        <p:spPr>
          <a:xfrm>
            <a:off x="6400800" y="4572000"/>
            <a:ext cx="4754880" cy="1280160"/>
          </a:xfrm>
          <a:prstGeom prst="rect">
            <a:avLst/>
          </a:prstGeom>
          <a:noFill/>
          <a:ln/>
        </p:spPr>
        <p:txBody>
          <a:bodyPr wrap="square" lIns="0" tIns="0" rIns="0" bIns="0" rtlCol="0" anchor="t"/>
          <a:lstStyle/>
          <a:p>
            <a:pPr indent="0" marL="0">
              <a:lnSpc>
                <a:spcPct val="115000"/>
              </a:lnSpc>
              <a:buNone/>
            </a:pPr>
            <a:r>
              <a:rPr lang="en-US" sz="1300" dirty="0">
                <a:solidFill>
                  <a:srgbClr val="16232E"/>
                </a:solidFill>
                <a:latin typeface="Calibri" pitchFamily="34" charset="0"/>
                <a:ea typeface="Calibri" pitchFamily="34" charset="-122"/>
                <a:cs typeface="Calibri" pitchFamily="34" charset="-120"/>
              </a:rPr>
              <a:t>The production wrapper: it loads the compiled, optimized engine, manages GPU memory safely, and serves many requests at once — like a restaurant kitchen with several cooks working in parallel, instead of one cook finishing an entire order before starting the next.</a:t>
            </a:r>
            <a:endParaRPr lang="en-US" sz="1300" dirty="0"/>
          </a:p>
        </p:txBody>
      </p:sp>
      <p:sp>
        <p:nvSpPr>
          <p:cNvPr id="39" name="Text 34"/>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TensorRT_plugin — Engineering Results Overview</a:t>
            </a:r>
            <a:endParaRPr lang="en-US" sz="1000" dirty="0"/>
          </a:p>
        </p:txBody>
      </p:sp>
      <p:sp>
        <p:nvSpPr>
          <p:cNvPr id="40" name="Text 35"/>
          <p:cNvSpPr txBox="1"/>
          <p:nvPr/>
        </p:nvSpPr>
        <p:spPr>
          <a:xfrm>
            <a:off x="11460175" y="6446520"/>
            <a:ext cx="4572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C7293"/>
          </a:solidFill>
          <a:ln/>
        </p:spPr>
      </p:sp>
      <p:pic>
        <p:nvPicPr>
          <p:cNvPr id="3" name="Image 0" descr="/tmp/claude-1001/-home-npalmass-work-Evol-inference/a73e848c-9ae9-41bb-8cca-4eccbf875541/scratchpad/tensorrt_deck/icon_chart.png">    </p:cNvPr>
          <p:cNvPicPr>
            <a:picLocks noChangeAspect="1"/>
          </p:cNvPicPr>
          <p:nvPr/>
        </p:nvPicPr>
        <p:blipFill>
          <a:blip r:embed="rId1"/>
          <a:stretch>
            <a:fillRect/>
          </a:stretch>
        </p:blipFill>
        <p:spPr>
          <a:xfrm>
            <a:off x="638983" y="520111"/>
            <a:ext cx="294803" cy="294803"/>
          </a:xfrm>
          <a:prstGeom prst="rect">
            <a:avLst/>
          </a:prstGeom>
        </p:spPr>
      </p:pic>
      <p:sp>
        <p:nvSpPr>
          <p:cNvPr id="4" name="Text 1"/>
          <p:cNvSpPr txBox="1"/>
          <p:nvPr/>
        </p:nvSpPr>
        <p:spPr>
          <a:xfrm>
            <a:off x="1252728" y="384048"/>
            <a:ext cx="10436047" cy="256032"/>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RESULTS</a:t>
            </a:r>
            <a:endParaRPr lang="en-US" sz="1200" dirty="0"/>
          </a:p>
        </p:txBody>
      </p:sp>
      <p:sp>
        <p:nvSpPr>
          <p:cNvPr id="5" name="Text 2"/>
          <p:cNvSpPr txBox="1"/>
          <p:nvPr/>
        </p:nvSpPr>
        <p:spPr>
          <a:xfrm>
            <a:off x="1252728" y="621792"/>
            <a:ext cx="10436047" cy="457200"/>
          </a:xfrm>
          <a:prstGeom prst="rect">
            <a:avLst/>
          </a:prstGeom>
          <a:noFill/>
          <a:ln/>
        </p:spPr>
        <p:txBody>
          <a:bodyPr wrap="square" lIns="0" tIns="0" rIns="0" bIns="0" rtlCol="0" anchor="ctr"/>
          <a:lstStyle/>
          <a:p>
            <a:pPr indent="0" marL="0">
              <a:buNone/>
            </a:pPr>
            <a:r>
              <a:rPr lang="en-US" sz="3000" b="1" dirty="0">
                <a:solidFill>
                  <a:srgbClr val="0B2038"/>
                </a:solidFill>
                <a:latin typeface="Cambria" pitchFamily="34" charset="0"/>
                <a:ea typeface="Cambria" pitchFamily="34" charset="-122"/>
                <a:cs typeface="Cambria" pitchFamily="34" charset="-120"/>
              </a:rPr>
              <a:t>Four Ways to Run the Same Math</a:t>
            </a:r>
            <a:endParaRPr lang="en-US" sz="3000" dirty="0"/>
          </a:p>
        </p:txBody>
      </p:sp>
      <p:sp>
        <p:nvSpPr>
          <p:cNvPr id="6" name="Text 3"/>
          <p:cNvSpPr txBox="1"/>
          <p:nvPr/>
        </p:nvSpPr>
        <p:spPr>
          <a:xfrm>
            <a:off x="502920" y="1417320"/>
            <a:ext cx="11155680" cy="457200"/>
          </a:xfrm>
          <a:prstGeom prst="rect">
            <a:avLst/>
          </a:prstGeom>
          <a:noFill/>
          <a:ln/>
        </p:spPr>
        <p:txBody>
          <a:bodyPr wrap="square" lIns="0" tIns="0" rIns="0" bIns="0" rtlCol="0" anchor="ctr"/>
          <a:lstStyle/>
          <a:p>
            <a:pPr indent="0" marL="0">
              <a:buNone/>
            </a:pPr>
            <a:r>
              <a:rPr lang="en-US" sz="1350" dirty="0">
                <a:solidFill>
                  <a:srgbClr val="16232E"/>
                </a:solidFill>
                <a:latin typeface="Calibri" pitchFamily="34" charset="0"/>
                <a:ea typeface="Calibri" pitchFamily="34" charset="-122"/>
                <a:cs typeface="Calibri" pitchFamily="34" charset="-120"/>
              </a:rPr>
              <a:t>Same weights, same input, same warm-up-then-median timing — lower is faster. Each bar is one way of running the identical dequantize-and-multiply operation.</a:t>
            </a:r>
            <a:endParaRPr lang="en-US" sz="1350" dirty="0"/>
          </a:p>
        </p:txBody>
      </p:sp>
      <p:graphicFrame>
        <p:nvGraphicFramePr>
          <p:cNvPr id="7" name="Chart 0" descr=""/>
          <p:cNvGraphicFramePr/>
          <p:nvPr/>
        </p:nvGraphicFramePr>
        <p:xfrm>
          <a:off x="502920" y="1965960"/>
          <a:ext cx="6949440" cy="416052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7726680" y="1965960"/>
            <a:ext cx="3977640" cy="1965960"/>
          </a:xfrm>
          <a:prstGeom prst="roundRect">
            <a:avLst>
              <a:gd name="adj" fmla="val 3721"/>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9" name="Text 5"/>
          <p:cNvSpPr txBox="1"/>
          <p:nvPr/>
        </p:nvSpPr>
        <p:spPr>
          <a:xfrm>
            <a:off x="8001000" y="2194560"/>
            <a:ext cx="3429000" cy="548640"/>
          </a:xfrm>
          <a:prstGeom prst="rect">
            <a:avLst/>
          </a:prstGeom>
          <a:noFill/>
          <a:ln/>
        </p:spPr>
        <p:txBody>
          <a:bodyPr wrap="square" lIns="0" tIns="0" rIns="0" bIns="0" rtlCol="0" anchor="ctr"/>
          <a:lstStyle/>
          <a:p>
            <a:pPr indent="0" marL="0">
              <a:buNone/>
            </a:pPr>
            <a:r>
              <a:rPr lang="en-US" sz="3200" b="1" dirty="0">
                <a:solidFill>
                  <a:srgbClr val="F2A93B"/>
                </a:solidFill>
                <a:latin typeface="Cambria" pitchFamily="34" charset="0"/>
                <a:ea typeface="Cambria" pitchFamily="34" charset="-122"/>
                <a:cs typeface="Cambria" pitchFamily="34" charset="-120"/>
              </a:rPr>
              <a:t>~9x faster</a:t>
            </a:r>
            <a:endParaRPr lang="en-US" sz="3200" dirty="0"/>
          </a:p>
        </p:txBody>
      </p:sp>
      <p:sp>
        <p:nvSpPr>
          <p:cNvPr id="10" name="Text 6"/>
          <p:cNvSpPr txBox="1"/>
          <p:nvPr/>
        </p:nvSpPr>
        <p:spPr>
          <a:xfrm>
            <a:off x="8001000" y="2788920"/>
            <a:ext cx="3429000" cy="1005840"/>
          </a:xfrm>
          <a:prstGeom prst="rect">
            <a:avLst/>
          </a:prstGeom>
          <a:noFill/>
          <a:ln/>
        </p:spPr>
        <p:txBody>
          <a:bodyPr wrap="square" lIns="0" tIns="0" rIns="0" bIns="0" rtlCol="0" anchor="ctr"/>
          <a:lstStyle/>
          <a:p>
            <a:pPr indent="0" marL="0">
              <a:lnSpc>
                <a:spcPct val="115000"/>
              </a:lnSpc>
              <a:buNone/>
            </a:pPr>
            <a:r>
              <a:rPr lang="en-US" sz="1300" dirty="0">
                <a:solidFill>
                  <a:srgbClr val="16232E"/>
                </a:solidFill>
                <a:latin typeface="Calibri" pitchFamily="34" charset="0"/>
                <a:ea typeface="Calibri" pitchFamily="34" charset="-122"/>
                <a:cs typeface="Calibri" pitchFamily="34" charset="-120"/>
              </a:rPr>
              <a:t>than the default PyTorch path, using the standalone hand-written kernel.</a:t>
            </a:r>
            <a:endParaRPr lang="en-US" sz="1300" dirty="0"/>
          </a:p>
        </p:txBody>
      </p:sp>
      <p:sp>
        <p:nvSpPr>
          <p:cNvPr id="11" name="Shape 7"/>
          <p:cNvSpPr/>
          <p:nvPr/>
        </p:nvSpPr>
        <p:spPr>
          <a:xfrm>
            <a:off x="7726680" y="4160520"/>
            <a:ext cx="3977640" cy="1965960"/>
          </a:xfrm>
          <a:prstGeom prst="roundRect">
            <a:avLst>
              <a:gd name="adj" fmla="val 3721"/>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12" name="Text 8"/>
          <p:cNvSpPr txBox="1"/>
          <p:nvPr/>
        </p:nvSpPr>
        <p:spPr>
          <a:xfrm>
            <a:off x="8001000" y="4389120"/>
            <a:ext cx="3429000" cy="457200"/>
          </a:xfrm>
          <a:prstGeom prst="rect">
            <a:avLst/>
          </a:prstGeom>
          <a:noFill/>
          <a:ln/>
        </p:spPr>
        <p:txBody>
          <a:bodyPr wrap="square" lIns="0" tIns="0" rIns="0" bIns="0" rtlCol="0" anchor="ctr"/>
          <a:lstStyle/>
          <a:p>
            <a:pPr indent="0" marL="0">
              <a:buNone/>
            </a:pPr>
            <a:r>
              <a:rPr lang="en-US" sz="2000" b="1" dirty="0">
                <a:solidFill>
                  <a:srgbClr val="0B2038"/>
                </a:solidFill>
                <a:latin typeface="Cambria" pitchFamily="34" charset="0"/>
                <a:ea typeface="Cambria" pitchFamily="34" charset="-122"/>
                <a:cs typeface="Cambria" pitchFamily="34" charset="-120"/>
              </a:rPr>
              <a:t>No wrapper tax</a:t>
            </a:r>
            <a:endParaRPr lang="en-US" sz="2000" dirty="0"/>
          </a:p>
        </p:txBody>
      </p:sp>
      <p:sp>
        <p:nvSpPr>
          <p:cNvPr id="13" name="Text 9"/>
          <p:cNvSpPr txBox="1"/>
          <p:nvPr/>
        </p:nvSpPr>
        <p:spPr>
          <a:xfrm>
            <a:off x="8001000" y="4892040"/>
            <a:ext cx="3429000" cy="1097280"/>
          </a:xfrm>
          <a:prstGeom prst="rect">
            <a:avLst/>
          </a:prstGeom>
          <a:noFill/>
          <a:ln/>
        </p:spPr>
        <p:txBody>
          <a:bodyPr wrap="square" lIns="0" tIns="0" rIns="0" bIns="0" rtlCol="0" anchor="ctr"/>
          <a:lstStyle/>
          <a:p>
            <a:pPr indent="0" marL="0">
              <a:lnSpc>
                <a:spcPct val="115000"/>
              </a:lnSpc>
              <a:buNone/>
            </a:pPr>
            <a:r>
              <a:rPr lang="en-US" sz="1300" dirty="0">
                <a:solidFill>
                  <a:srgbClr val="16232E"/>
                </a:solidFill>
                <a:latin typeface="Calibri" pitchFamily="34" charset="0"/>
                <a:ea typeface="Calibri" pitchFamily="34" charset="-122"/>
                <a:cs typeface="Calibri" pitchFamily="34" charset="-120"/>
              </a:rPr>
              <a:t>The TensorRT engine (0.0768ms) ties the standalone kernel (0.0759ms) within noise — wrapping it for production cost nothing measurable.</a:t>
            </a:r>
            <a:endParaRPr lang="en-US" sz="1300" dirty="0"/>
          </a:p>
        </p:txBody>
      </p:sp>
      <p:sp>
        <p:nvSpPr>
          <p:cNvPr id="14" name="Text 10"/>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TensorRT_plugin — Engineering Results Overview</a:t>
            </a:r>
            <a:endParaRPr lang="en-US" sz="1000" dirty="0"/>
          </a:p>
        </p:txBody>
      </p:sp>
      <p:sp>
        <p:nvSpPr>
          <p:cNvPr id="15" name="Text 11"/>
          <p:cNvSpPr txBox="1"/>
          <p:nvPr/>
        </p:nvSpPr>
        <p:spPr>
          <a:xfrm>
            <a:off x="11460175" y="6446520"/>
            <a:ext cx="4572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C7293"/>
          </a:solidFill>
          <a:ln/>
        </p:spPr>
      </p:sp>
      <p:pic>
        <p:nvPicPr>
          <p:cNvPr id="3" name="Image 0" descr="/tmp/claude-1001/-home-npalmass-work-Evol-inference/a73e848c-9ae9-41bb-8cca-4eccbf875541/scratchpad/tensorrt_deck/icon_layers.png">    </p:cNvPr>
          <p:cNvPicPr>
            <a:picLocks noChangeAspect="1"/>
          </p:cNvPicPr>
          <p:nvPr/>
        </p:nvPicPr>
        <p:blipFill>
          <a:blip r:embed="rId1"/>
          <a:stretch>
            <a:fillRect/>
          </a:stretch>
        </p:blipFill>
        <p:spPr>
          <a:xfrm>
            <a:off x="638983" y="520111"/>
            <a:ext cx="294803" cy="294803"/>
          </a:xfrm>
          <a:prstGeom prst="rect">
            <a:avLst/>
          </a:prstGeom>
        </p:spPr>
      </p:pic>
      <p:sp>
        <p:nvSpPr>
          <p:cNvPr id="4" name="Text 1"/>
          <p:cNvSpPr txBox="1"/>
          <p:nvPr/>
        </p:nvSpPr>
        <p:spPr>
          <a:xfrm>
            <a:off x="1252728" y="384048"/>
            <a:ext cx="10436047" cy="256032"/>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RESULTS, EXPLAINED</a:t>
            </a:r>
            <a:endParaRPr lang="en-US" sz="1200" dirty="0"/>
          </a:p>
        </p:txBody>
      </p:sp>
      <p:sp>
        <p:nvSpPr>
          <p:cNvPr id="5" name="Text 2"/>
          <p:cNvSpPr txBox="1"/>
          <p:nvPr/>
        </p:nvSpPr>
        <p:spPr>
          <a:xfrm>
            <a:off x="1252728" y="621792"/>
            <a:ext cx="10436047" cy="457200"/>
          </a:xfrm>
          <a:prstGeom prst="rect">
            <a:avLst/>
          </a:prstGeom>
          <a:noFill/>
          <a:ln/>
        </p:spPr>
        <p:txBody>
          <a:bodyPr wrap="square" lIns="0" tIns="0" rIns="0" bIns="0" rtlCol="0" anchor="ctr"/>
          <a:lstStyle/>
          <a:p>
            <a:pPr indent="0" marL="0">
              <a:buNone/>
            </a:pPr>
            <a:r>
              <a:rPr lang="en-US" sz="3000" b="1" dirty="0">
                <a:solidFill>
                  <a:srgbClr val="0B2038"/>
                </a:solidFill>
                <a:latin typeface="Cambria" pitchFamily="34" charset="0"/>
                <a:ea typeface="Cambria" pitchFamily="34" charset="-122"/>
                <a:cs typeface="Cambria" pitchFamily="34" charset="-120"/>
              </a:rPr>
              <a:t>Why Is Plain PyTorch So Much Slower?</a:t>
            </a:r>
            <a:endParaRPr lang="en-US" sz="3000" dirty="0"/>
          </a:p>
        </p:txBody>
      </p:sp>
      <p:sp>
        <p:nvSpPr>
          <p:cNvPr id="6" name="Shape 3"/>
          <p:cNvSpPr/>
          <p:nvPr/>
        </p:nvSpPr>
        <p:spPr>
          <a:xfrm>
            <a:off x="502920" y="1600200"/>
            <a:ext cx="5303520" cy="3017520"/>
          </a:xfrm>
          <a:prstGeom prst="roundRect">
            <a:avLst>
              <a:gd name="adj" fmla="val 2424"/>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7" name="Text 4"/>
          <p:cNvSpPr txBox="1"/>
          <p:nvPr/>
        </p:nvSpPr>
        <p:spPr>
          <a:xfrm>
            <a:off x="777240" y="1856232"/>
            <a:ext cx="4754880" cy="365760"/>
          </a:xfrm>
          <a:prstGeom prst="rect">
            <a:avLst/>
          </a:prstGeom>
          <a:noFill/>
          <a:ln/>
        </p:spPr>
        <p:txBody>
          <a:bodyPr wrap="square" lIns="0" tIns="0" rIns="0" bIns="0" rtlCol="0" anchor="ctr"/>
          <a:lstStyle/>
          <a:p>
            <a:pPr indent="0" marL="0">
              <a:buNone/>
            </a:pPr>
            <a:r>
              <a:rPr lang="en-US" sz="1600" b="1" dirty="0">
                <a:solidFill>
                  <a:srgbClr val="0B2038"/>
                </a:solidFill>
                <a:latin typeface="Cambria" pitchFamily="34" charset="0"/>
                <a:ea typeface="Cambria" pitchFamily="34" charset="-122"/>
                <a:cs typeface="Cambria" pitchFamily="34" charset="-120"/>
              </a:rPr>
              <a:t>The Slow Way: Two Separate Trips</a:t>
            </a:r>
            <a:endParaRPr lang="en-US" sz="1600" dirty="0"/>
          </a:p>
        </p:txBody>
      </p:sp>
      <p:sp>
        <p:nvSpPr>
          <p:cNvPr id="8" name="Shape 5"/>
          <p:cNvSpPr/>
          <p:nvPr/>
        </p:nvSpPr>
        <p:spPr>
          <a:xfrm>
            <a:off x="777240" y="2377440"/>
            <a:ext cx="4754880" cy="685800"/>
          </a:xfrm>
          <a:prstGeom prst="roundRect">
            <a:avLst>
              <a:gd name="adj" fmla="val 10667"/>
            </a:avLst>
          </a:prstGeom>
          <a:solidFill>
            <a:srgbClr val="EDF1F4"/>
          </a:solidFill>
          <a:ln/>
        </p:spPr>
      </p:sp>
      <p:sp>
        <p:nvSpPr>
          <p:cNvPr id="9" name="Text 6"/>
          <p:cNvSpPr txBox="1"/>
          <p:nvPr/>
        </p:nvSpPr>
        <p:spPr>
          <a:xfrm>
            <a:off x="960120" y="2377440"/>
            <a:ext cx="4389120" cy="685800"/>
          </a:xfrm>
          <a:prstGeom prst="rect">
            <a:avLst/>
          </a:prstGeom>
          <a:noFill/>
          <a:ln/>
        </p:spPr>
        <p:txBody>
          <a:bodyPr wrap="square" lIns="0" tIns="0" rIns="0" bIns="0" rtlCol="0" anchor="ctr"/>
          <a:lstStyle/>
          <a:p>
            <a:pPr indent="0" marL="0">
              <a:buNone/>
            </a:pPr>
            <a:r>
              <a:rPr lang="en-US" sz="1250" dirty="0">
                <a:solidFill>
                  <a:srgbClr val="16232E"/>
                </a:solidFill>
                <a:latin typeface="Calibri" pitchFamily="34" charset="0"/>
                <a:ea typeface="Calibri" pitchFamily="34" charset="-122"/>
                <a:cs typeface="Calibri" pitchFamily="34" charset="-120"/>
              </a:rPr>
              <a:t>1. Decompress the entire compact weight table into a full-size table in memory</a:t>
            </a:r>
            <a:endParaRPr lang="en-US" sz="1250" dirty="0"/>
          </a:p>
        </p:txBody>
      </p:sp>
      <p:sp>
        <p:nvSpPr>
          <p:cNvPr id="10" name="Shape 7"/>
          <p:cNvSpPr/>
          <p:nvPr/>
        </p:nvSpPr>
        <p:spPr>
          <a:xfrm>
            <a:off x="777240" y="3246120"/>
            <a:ext cx="4754880" cy="685800"/>
          </a:xfrm>
          <a:prstGeom prst="roundRect">
            <a:avLst>
              <a:gd name="adj" fmla="val 10667"/>
            </a:avLst>
          </a:prstGeom>
          <a:solidFill>
            <a:srgbClr val="EDF1F4"/>
          </a:solidFill>
          <a:ln/>
        </p:spPr>
      </p:sp>
      <p:sp>
        <p:nvSpPr>
          <p:cNvPr id="11" name="Text 8"/>
          <p:cNvSpPr txBox="1"/>
          <p:nvPr/>
        </p:nvSpPr>
        <p:spPr>
          <a:xfrm>
            <a:off x="960120" y="3246120"/>
            <a:ext cx="4389120" cy="685800"/>
          </a:xfrm>
          <a:prstGeom prst="rect">
            <a:avLst/>
          </a:prstGeom>
          <a:noFill/>
          <a:ln/>
        </p:spPr>
        <p:txBody>
          <a:bodyPr wrap="square" lIns="0" tIns="0" rIns="0" bIns="0" rtlCol="0" anchor="ctr"/>
          <a:lstStyle/>
          <a:p>
            <a:pPr indent="0" marL="0">
              <a:buNone/>
            </a:pPr>
            <a:r>
              <a:rPr lang="en-US" sz="1250" dirty="0">
                <a:solidFill>
                  <a:srgbClr val="16232E"/>
                </a:solidFill>
                <a:latin typeface="Calibri" pitchFamily="34" charset="0"/>
                <a:ea typeface="Calibri" pitchFamily="34" charset="-122"/>
                <a:cs typeface="Calibri" pitchFamily="34" charset="-120"/>
              </a:rPr>
              <a:t>2. Then read that full-size table back and multiply</a:t>
            </a:r>
            <a:endParaRPr lang="en-US" sz="1250" dirty="0"/>
          </a:p>
        </p:txBody>
      </p:sp>
      <p:sp>
        <p:nvSpPr>
          <p:cNvPr id="12" name="Text 9"/>
          <p:cNvSpPr txBox="1"/>
          <p:nvPr/>
        </p:nvSpPr>
        <p:spPr>
          <a:xfrm>
            <a:off x="777240" y="4114800"/>
            <a:ext cx="4754880" cy="411480"/>
          </a:xfrm>
          <a:prstGeom prst="rect">
            <a:avLst/>
          </a:prstGeom>
          <a:noFill/>
          <a:ln/>
        </p:spPr>
        <p:txBody>
          <a:bodyPr wrap="square" lIns="0" tIns="0" rIns="0" bIns="0" rtlCol="0" anchor="ctr"/>
          <a:lstStyle/>
          <a:p>
            <a:pPr indent="0" marL="0">
              <a:buNone/>
            </a:pPr>
            <a:r>
              <a:rPr lang="en-US" sz="1150" i="1" dirty="0">
                <a:solidFill>
                  <a:srgbClr val="5B6B7A"/>
                </a:solidFill>
                <a:latin typeface="Calibri" pitchFamily="34" charset="0"/>
                <a:ea typeface="Calibri" pitchFamily="34" charset="-122"/>
                <a:cs typeface="Calibri" pitchFamily="34" charset="-120"/>
              </a:rPr>
              <a:t>Extra full round-trip through GPU memory for a table that’s used once and thrown away.</a:t>
            </a:r>
            <a:endParaRPr lang="en-US" sz="1150" dirty="0"/>
          </a:p>
        </p:txBody>
      </p:sp>
      <p:sp>
        <p:nvSpPr>
          <p:cNvPr id="13" name="Shape 10"/>
          <p:cNvSpPr/>
          <p:nvPr/>
        </p:nvSpPr>
        <p:spPr>
          <a:xfrm>
            <a:off x="6126480" y="1600200"/>
            <a:ext cx="5303520" cy="3017520"/>
          </a:xfrm>
          <a:prstGeom prst="roundRect">
            <a:avLst>
              <a:gd name="adj" fmla="val 2424"/>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14" name="Text 11"/>
          <p:cNvSpPr txBox="1"/>
          <p:nvPr/>
        </p:nvSpPr>
        <p:spPr>
          <a:xfrm>
            <a:off x="6400800" y="1856232"/>
            <a:ext cx="4754880" cy="365760"/>
          </a:xfrm>
          <a:prstGeom prst="rect">
            <a:avLst/>
          </a:prstGeom>
          <a:noFill/>
          <a:ln/>
        </p:spPr>
        <p:txBody>
          <a:bodyPr wrap="square" lIns="0" tIns="0" rIns="0" bIns="0" rtlCol="0" anchor="ctr"/>
          <a:lstStyle/>
          <a:p>
            <a:pPr indent="0" marL="0">
              <a:buNone/>
            </a:pPr>
            <a:r>
              <a:rPr lang="en-US" sz="1600" b="1" dirty="0">
                <a:solidFill>
                  <a:srgbClr val="0B2038"/>
                </a:solidFill>
                <a:latin typeface="Cambria" pitchFamily="34" charset="0"/>
                <a:ea typeface="Cambria" pitchFamily="34" charset="-122"/>
                <a:cs typeface="Cambria" pitchFamily="34" charset="-120"/>
              </a:rPr>
              <a:t>The Fast Way: Fused in One Pass</a:t>
            </a:r>
            <a:endParaRPr lang="en-US" sz="1600" dirty="0"/>
          </a:p>
        </p:txBody>
      </p:sp>
      <p:sp>
        <p:nvSpPr>
          <p:cNvPr id="15" name="Shape 12"/>
          <p:cNvSpPr/>
          <p:nvPr/>
        </p:nvSpPr>
        <p:spPr>
          <a:xfrm>
            <a:off x="6400800" y="2377440"/>
            <a:ext cx="4754880" cy="1600200"/>
          </a:xfrm>
          <a:prstGeom prst="roundRect">
            <a:avLst>
              <a:gd name="adj" fmla="val 4571"/>
            </a:avLst>
          </a:prstGeom>
          <a:solidFill>
            <a:srgbClr val="F2A93B"/>
          </a:solidFill>
          <a:ln/>
        </p:spPr>
      </p:sp>
      <p:sp>
        <p:nvSpPr>
          <p:cNvPr id="16" name="Text 13"/>
          <p:cNvSpPr txBox="1"/>
          <p:nvPr/>
        </p:nvSpPr>
        <p:spPr>
          <a:xfrm>
            <a:off x="6583680" y="2377440"/>
            <a:ext cx="4389120" cy="1600200"/>
          </a:xfrm>
          <a:prstGeom prst="rect">
            <a:avLst/>
          </a:prstGeom>
          <a:noFill/>
          <a:ln/>
        </p:spPr>
        <p:txBody>
          <a:bodyPr wrap="square" lIns="0" tIns="0" rIns="0" bIns="0" rtlCol="0" anchor="ctr"/>
          <a:lstStyle/>
          <a:p>
            <a:pPr indent="0" marL="0">
              <a:lnSpc>
                <a:spcPct val="115000"/>
              </a:lnSpc>
              <a:buNone/>
            </a:pPr>
            <a:r>
              <a:rPr lang="en-US" sz="1300" b="1" dirty="0">
                <a:solidFill>
                  <a:srgbClr val="0B2038"/>
                </a:solidFill>
                <a:latin typeface="Calibri" pitchFamily="34" charset="0"/>
                <a:ea typeface="Calibri" pitchFamily="34" charset="-122"/>
                <a:cs typeface="Calibri" pitchFamily="34" charset="-120"/>
              </a:rPr>
              <a:t>Decompress and multiply together, on the fly — no detour through a throwaway full-size table</a:t>
            </a:r>
            <a:endParaRPr lang="en-US" sz="1300" dirty="0"/>
          </a:p>
        </p:txBody>
      </p:sp>
      <p:sp>
        <p:nvSpPr>
          <p:cNvPr id="17" name="Text 14"/>
          <p:cNvSpPr txBox="1"/>
          <p:nvPr/>
        </p:nvSpPr>
        <p:spPr>
          <a:xfrm>
            <a:off x="6400800" y="4114800"/>
            <a:ext cx="4754880" cy="411480"/>
          </a:xfrm>
          <a:prstGeom prst="rect">
            <a:avLst/>
          </a:prstGeom>
          <a:noFill/>
          <a:ln/>
        </p:spPr>
        <p:txBody>
          <a:bodyPr wrap="square" lIns="0" tIns="0" rIns="0" bIns="0" rtlCol="0" anchor="ctr"/>
          <a:lstStyle/>
          <a:p>
            <a:pPr indent="0" marL="0">
              <a:buNone/>
            </a:pPr>
            <a:r>
              <a:rPr lang="en-US" sz="1150" i="1" dirty="0">
                <a:solidFill>
                  <a:srgbClr val="5B6B7A"/>
                </a:solidFill>
                <a:latin typeface="Calibri" pitchFamily="34" charset="0"/>
                <a:ea typeface="Calibri" pitchFamily="34" charset="-122"/>
                <a:cs typeface="Calibri" pitchFamily="34" charset="-120"/>
              </a:rPr>
              <a:t>This is what the hand-written kernel and the TensorRT plugin both do.</a:t>
            </a:r>
            <a:endParaRPr lang="en-US" sz="1150" dirty="0"/>
          </a:p>
        </p:txBody>
      </p:sp>
      <p:sp>
        <p:nvSpPr>
          <p:cNvPr id="18" name="Shape 15"/>
          <p:cNvSpPr/>
          <p:nvPr/>
        </p:nvSpPr>
        <p:spPr>
          <a:xfrm>
            <a:off x="502920" y="4846320"/>
            <a:ext cx="11155680" cy="621792"/>
          </a:xfrm>
          <a:prstGeom prst="roundRect">
            <a:avLst>
              <a:gd name="adj" fmla="val 14706"/>
            </a:avLst>
          </a:prstGeom>
          <a:solidFill>
            <a:srgbClr val="0B2038"/>
          </a:solidFill>
          <a:ln/>
        </p:spPr>
      </p:sp>
      <p:sp>
        <p:nvSpPr>
          <p:cNvPr id="19" name="Text 16"/>
          <p:cNvSpPr txBox="1"/>
          <p:nvPr/>
        </p:nvSpPr>
        <p:spPr>
          <a:xfrm>
            <a:off x="777240" y="4846320"/>
            <a:ext cx="10607040" cy="621792"/>
          </a:xfrm>
          <a:prstGeom prst="rect">
            <a:avLst/>
          </a:prstGeom>
          <a:noFill/>
          <a:ln/>
        </p:spPr>
        <p:txBody>
          <a:bodyPr wrap="square" lIns="0" tIns="0" rIns="0" bIns="0" rtlCol="0" anchor="ctr"/>
          <a:lstStyle/>
          <a:p>
            <a:pPr indent="0" marL="0">
              <a:buNone/>
            </a:pPr>
            <a:r>
              <a:rPr lang="en-US" sz="1350" b="1" dirty="0">
                <a:solidFill>
                  <a:srgbClr val="F2A93B"/>
                </a:solidFill>
                <a:latin typeface="Calibri" pitchFamily="34" charset="0"/>
                <a:ea typeface="Calibri" pitchFamily="34" charset="-122"/>
                <a:cs typeface="Calibri" pitchFamily="34" charset="-120"/>
              </a:rPr>
              <a:t>Found twice, independently: </a:t>
            </a:r>
            <a:pPr indent="0" marL="0">
              <a:buNone/>
            </a:pPr>
            <a:r>
              <a:rPr lang="en-US" sz="1300" dirty="0">
                <a:solidFill>
                  <a:srgbClr val="FFFFFF"/>
                </a:solidFill>
                <a:latin typeface="Calibri" pitchFamily="34" charset="0"/>
                <a:ea typeface="Calibri" pitchFamily="34" charset="-122"/>
                <a:cs typeface="Calibri" pitchFamily="34" charset="-120"/>
              </a:rPr>
              <a:t>a plain vendor-library baseline (cuBLAS) built the slow way was also the slowest option tested for the kernel alone — this isn’t a one-off result.</a:t>
            </a:r>
            <a:endParaRPr lang="en-US" sz="1350" dirty="0"/>
          </a:p>
        </p:txBody>
      </p:sp>
      <p:sp>
        <p:nvSpPr>
          <p:cNvPr id="20" name="Text 17"/>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TensorRT_plugin — Engineering Results Overview</a:t>
            </a:r>
            <a:endParaRPr lang="en-US" sz="1000" dirty="0"/>
          </a:p>
        </p:txBody>
      </p:sp>
      <p:sp>
        <p:nvSpPr>
          <p:cNvPr id="21" name="Text 18"/>
          <p:cNvSpPr txBox="1"/>
          <p:nvPr/>
        </p:nvSpPr>
        <p:spPr>
          <a:xfrm>
            <a:off x="11460175" y="6446520"/>
            <a:ext cx="4572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C7293"/>
          </a:solidFill>
          <a:ln/>
        </p:spPr>
      </p:sp>
      <p:pic>
        <p:nvPicPr>
          <p:cNvPr id="3" name="Image 0" descr="/tmp/claude-1001/-home-npalmass-work-Evol-inference/a73e848c-9ae9-41bb-8cca-4eccbf875541/scratchpad/tensorrt_deck/icon_boxes.png">    </p:cNvPr>
          <p:cNvPicPr>
            <a:picLocks noChangeAspect="1"/>
          </p:cNvPicPr>
          <p:nvPr/>
        </p:nvPicPr>
        <p:blipFill>
          <a:blip r:embed="rId1"/>
          <a:stretch>
            <a:fillRect/>
          </a:stretch>
        </p:blipFill>
        <p:spPr>
          <a:xfrm>
            <a:off x="638983" y="520111"/>
            <a:ext cx="294803" cy="294803"/>
          </a:xfrm>
          <a:prstGeom prst="rect">
            <a:avLst/>
          </a:prstGeom>
        </p:spPr>
      </p:pic>
      <p:sp>
        <p:nvSpPr>
          <p:cNvPr id="4" name="Text 1"/>
          <p:cNvSpPr txBox="1"/>
          <p:nvPr/>
        </p:nvSpPr>
        <p:spPr>
          <a:xfrm>
            <a:off x="1252728" y="384048"/>
            <a:ext cx="10436047" cy="256032"/>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RESULTS</a:t>
            </a:r>
            <a:endParaRPr lang="en-US" sz="1200" dirty="0"/>
          </a:p>
        </p:txBody>
      </p:sp>
      <p:sp>
        <p:nvSpPr>
          <p:cNvPr id="5" name="Text 2"/>
          <p:cNvSpPr txBox="1"/>
          <p:nvPr/>
        </p:nvSpPr>
        <p:spPr>
          <a:xfrm>
            <a:off x="1252728" y="621792"/>
            <a:ext cx="10436047" cy="457200"/>
          </a:xfrm>
          <a:prstGeom prst="rect">
            <a:avLst/>
          </a:prstGeom>
          <a:noFill/>
          <a:ln/>
        </p:spPr>
        <p:txBody>
          <a:bodyPr wrap="square" lIns="0" tIns="0" rIns="0" bIns="0" rtlCol="0" anchor="ctr"/>
          <a:lstStyle/>
          <a:p>
            <a:pPr indent="0" marL="0">
              <a:buNone/>
            </a:pPr>
            <a:r>
              <a:rPr lang="en-US" sz="3000" b="1" dirty="0">
                <a:solidFill>
                  <a:srgbClr val="0B2038"/>
                </a:solidFill>
                <a:latin typeface="Cambria" pitchFamily="34" charset="0"/>
                <a:ea typeface="Cambria" pitchFamily="34" charset="-122"/>
                <a:cs typeface="Cambria" pitchFamily="34" charset="-120"/>
              </a:rPr>
              <a:t>Serving Many Requests at Once</a:t>
            </a:r>
            <a:endParaRPr lang="en-US" sz="3000" dirty="0"/>
          </a:p>
        </p:txBody>
      </p:sp>
      <p:sp>
        <p:nvSpPr>
          <p:cNvPr id="6" name="Text 3"/>
          <p:cNvSpPr txBox="1"/>
          <p:nvPr/>
        </p:nvSpPr>
        <p:spPr>
          <a:xfrm>
            <a:off x="502920" y="1417320"/>
            <a:ext cx="11155680" cy="457200"/>
          </a:xfrm>
          <a:prstGeom prst="rect">
            <a:avLst/>
          </a:prstGeom>
          <a:noFill/>
          <a:ln/>
        </p:spPr>
        <p:txBody>
          <a:bodyPr wrap="square" lIns="0" tIns="0" rIns="0" bIns="0" rtlCol="0" anchor="ctr"/>
          <a:lstStyle/>
          <a:p>
            <a:pPr indent="0" marL="0">
              <a:buNone/>
            </a:pPr>
            <a:r>
              <a:rPr lang="en-US" sz="1350" dirty="0">
                <a:solidFill>
                  <a:srgbClr val="16232E"/>
                </a:solidFill>
                <a:latin typeface="Calibri" pitchFamily="34" charset="0"/>
                <a:ea typeface="Calibri" pitchFamily="34" charset="-122"/>
                <a:cs typeface="Calibri" pitchFamily="34" charset="-120"/>
              </a:rPr>
              <a:t>The C++ harness can run several requests in parallel, each with its own GPU "lane" (stream). More lanes should mean more throughput — up to a point.</a:t>
            </a:r>
            <a:endParaRPr lang="en-US" sz="1350" dirty="0"/>
          </a:p>
        </p:txBody>
      </p:sp>
      <p:graphicFrame>
        <p:nvGraphicFramePr>
          <p:cNvPr id="7" name="Chart 0" descr=""/>
          <p:cNvGraphicFramePr/>
          <p:nvPr/>
        </p:nvGraphicFramePr>
        <p:xfrm>
          <a:off x="502920" y="1965960"/>
          <a:ext cx="6949440" cy="416052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7726680" y="1965960"/>
            <a:ext cx="3977640" cy="1965960"/>
          </a:xfrm>
          <a:prstGeom prst="roundRect">
            <a:avLst>
              <a:gd name="adj" fmla="val 3721"/>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9" name="Text 5"/>
          <p:cNvSpPr txBox="1"/>
          <p:nvPr/>
        </p:nvSpPr>
        <p:spPr>
          <a:xfrm>
            <a:off x="8001000" y="2194560"/>
            <a:ext cx="3429000" cy="548640"/>
          </a:xfrm>
          <a:prstGeom prst="rect">
            <a:avLst/>
          </a:prstGeom>
          <a:noFill/>
          <a:ln/>
        </p:spPr>
        <p:txBody>
          <a:bodyPr wrap="square" lIns="0" tIns="0" rIns="0" bIns="0" rtlCol="0" anchor="ctr"/>
          <a:lstStyle/>
          <a:p>
            <a:pPr indent="0" marL="0">
              <a:buNone/>
            </a:pPr>
            <a:r>
              <a:rPr lang="en-US" sz="3200" b="1" dirty="0">
                <a:solidFill>
                  <a:srgbClr val="F2A93B"/>
                </a:solidFill>
                <a:latin typeface="Cambria" pitchFamily="34" charset="0"/>
                <a:ea typeface="Cambria" pitchFamily="34" charset="-122"/>
                <a:cs typeface="Cambria" pitchFamily="34" charset="-120"/>
              </a:rPr>
              <a:t>+37%</a:t>
            </a:r>
            <a:endParaRPr lang="en-US" sz="3200" dirty="0"/>
          </a:p>
        </p:txBody>
      </p:sp>
      <p:sp>
        <p:nvSpPr>
          <p:cNvPr id="10" name="Text 6"/>
          <p:cNvSpPr txBox="1"/>
          <p:nvPr/>
        </p:nvSpPr>
        <p:spPr>
          <a:xfrm>
            <a:off x="8001000" y="2788920"/>
            <a:ext cx="3429000" cy="1005840"/>
          </a:xfrm>
          <a:prstGeom prst="rect">
            <a:avLst/>
          </a:prstGeom>
          <a:noFill/>
          <a:ln/>
        </p:spPr>
        <p:txBody>
          <a:bodyPr wrap="square" lIns="0" tIns="0" rIns="0" bIns="0" rtlCol="0" anchor="ctr"/>
          <a:lstStyle/>
          <a:p>
            <a:pPr indent="0" marL="0">
              <a:lnSpc>
                <a:spcPct val="115000"/>
              </a:lnSpc>
              <a:buNone/>
            </a:pPr>
            <a:r>
              <a:rPr lang="en-US" sz="1300" dirty="0">
                <a:solidFill>
                  <a:srgbClr val="16232E"/>
                </a:solidFill>
                <a:latin typeface="Calibri" pitchFamily="34" charset="0"/>
                <a:ea typeface="Calibri" pitchFamily="34" charset="-122"/>
                <a:cs typeface="Calibri" pitchFamily="34" charset="-120"/>
              </a:rPr>
              <a:t>more throughput running 4 requests in parallel vs. one at a time, fully overlapped.</a:t>
            </a:r>
            <a:endParaRPr lang="en-US" sz="1300" dirty="0"/>
          </a:p>
        </p:txBody>
      </p:sp>
      <p:sp>
        <p:nvSpPr>
          <p:cNvPr id="11" name="Shape 7"/>
          <p:cNvSpPr/>
          <p:nvPr/>
        </p:nvSpPr>
        <p:spPr>
          <a:xfrm>
            <a:off x="7726680" y="4160520"/>
            <a:ext cx="3977640" cy="1965960"/>
          </a:xfrm>
          <a:prstGeom prst="roundRect">
            <a:avLst>
              <a:gd name="adj" fmla="val 3721"/>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12" name="Text 8"/>
          <p:cNvSpPr txBox="1"/>
          <p:nvPr/>
        </p:nvSpPr>
        <p:spPr>
          <a:xfrm>
            <a:off x="8001000" y="4389120"/>
            <a:ext cx="3429000" cy="457200"/>
          </a:xfrm>
          <a:prstGeom prst="rect">
            <a:avLst/>
          </a:prstGeom>
          <a:noFill/>
          <a:ln/>
        </p:spPr>
        <p:txBody>
          <a:bodyPr wrap="square" lIns="0" tIns="0" rIns="0" bIns="0" rtlCol="0" anchor="ctr"/>
          <a:lstStyle/>
          <a:p>
            <a:pPr indent="0" marL="0">
              <a:buNone/>
            </a:pPr>
            <a:r>
              <a:rPr lang="en-US" sz="2000" b="1" dirty="0">
                <a:solidFill>
                  <a:srgbClr val="0B2038"/>
                </a:solidFill>
                <a:latin typeface="Cambria" pitchFamily="34" charset="0"/>
                <a:ea typeface="Cambria" pitchFamily="34" charset="-122"/>
                <a:cs typeface="Cambria" pitchFamily="34" charset="-120"/>
              </a:rPr>
              <a:t>Gains level off</a:t>
            </a:r>
            <a:endParaRPr lang="en-US" sz="2000" dirty="0"/>
          </a:p>
        </p:txBody>
      </p:sp>
      <p:sp>
        <p:nvSpPr>
          <p:cNvPr id="13" name="Text 9"/>
          <p:cNvSpPr txBox="1"/>
          <p:nvPr/>
        </p:nvSpPr>
        <p:spPr>
          <a:xfrm>
            <a:off x="8001000" y="4892040"/>
            <a:ext cx="3429000" cy="1097280"/>
          </a:xfrm>
          <a:prstGeom prst="rect">
            <a:avLst/>
          </a:prstGeom>
          <a:noFill/>
          <a:ln/>
        </p:spPr>
        <p:txBody>
          <a:bodyPr wrap="square" lIns="0" tIns="0" rIns="0" bIns="0" rtlCol="0" anchor="ctr"/>
          <a:lstStyle/>
          <a:p>
            <a:pPr indent="0" marL="0">
              <a:lnSpc>
                <a:spcPct val="115000"/>
              </a:lnSpc>
              <a:buNone/>
            </a:pPr>
            <a:r>
              <a:rPr lang="en-US" sz="1300" dirty="0">
                <a:solidFill>
                  <a:srgbClr val="16232E"/>
                </a:solidFill>
                <a:latin typeface="Calibri" pitchFamily="34" charset="0"/>
                <a:ea typeface="Calibri" pitchFamily="34" charset="-122"/>
                <a:cs typeface="Calibri" pitchFamily="34" charset="-120"/>
              </a:rPr>
              <a:t>8 streams gave no further gain. This is a small, single-operation workload — not much waiting-around time was left to fill with overlap.</a:t>
            </a:r>
            <a:endParaRPr lang="en-US" sz="1300" dirty="0"/>
          </a:p>
        </p:txBody>
      </p:sp>
      <p:sp>
        <p:nvSpPr>
          <p:cNvPr id="14" name="Text 10"/>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TensorRT_plugin — Engineering Results Overview</a:t>
            </a:r>
            <a:endParaRPr lang="en-US" sz="1000" dirty="0"/>
          </a:p>
        </p:txBody>
      </p:sp>
      <p:sp>
        <p:nvSpPr>
          <p:cNvPr id="15" name="Text 11"/>
          <p:cNvSpPr txBox="1"/>
          <p:nvPr/>
        </p:nvSpPr>
        <p:spPr>
          <a:xfrm>
            <a:off x="11460175" y="6446520"/>
            <a:ext cx="4572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C7293"/>
          </a:solidFill>
          <a:ln/>
        </p:spPr>
      </p:sp>
      <p:pic>
        <p:nvPicPr>
          <p:cNvPr id="3" name="Image 0" descr="/tmp/claude-1001/-home-npalmass-work-Evol-inference/a73e848c-9ae9-41bb-8cca-4eccbf875541/scratchpad/tensorrt_deck/icon_check.png">    </p:cNvPr>
          <p:cNvPicPr>
            <a:picLocks noChangeAspect="1"/>
          </p:cNvPicPr>
          <p:nvPr/>
        </p:nvPicPr>
        <p:blipFill>
          <a:blip r:embed="rId1"/>
          <a:stretch>
            <a:fillRect/>
          </a:stretch>
        </p:blipFill>
        <p:spPr>
          <a:xfrm>
            <a:off x="638983" y="520111"/>
            <a:ext cx="294803" cy="294803"/>
          </a:xfrm>
          <a:prstGeom prst="rect">
            <a:avLst/>
          </a:prstGeom>
        </p:spPr>
      </p:pic>
      <p:sp>
        <p:nvSpPr>
          <p:cNvPr id="4" name="Text 1"/>
          <p:cNvSpPr txBox="1"/>
          <p:nvPr/>
        </p:nvSpPr>
        <p:spPr>
          <a:xfrm>
            <a:off x="1252728" y="384048"/>
            <a:ext cx="10436047" cy="256032"/>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FOLLOW-UP TEST</a:t>
            </a:r>
            <a:endParaRPr lang="en-US" sz="1200" dirty="0"/>
          </a:p>
        </p:txBody>
      </p:sp>
      <p:sp>
        <p:nvSpPr>
          <p:cNvPr id="5" name="Text 2"/>
          <p:cNvSpPr txBox="1"/>
          <p:nvPr/>
        </p:nvSpPr>
        <p:spPr>
          <a:xfrm>
            <a:off x="1252728" y="621792"/>
            <a:ext cx="10436047" cy="457200"/>
          </a:xfrm>
          <a:prstGeom prst="rect">
            <a:avLst/>
          </a:prstGeom>
          <a:noFill/>
          <a:ln/>
        </p:spPr>
        <p:txBody>
          <a:bodyPr wrap="square" lIns="0" tIns="0" rIns="0" bIns="0" rtlCol="0" anchor="ctr"/>
          <a:lstStyle/>
          <a:p>
            <a:pPr indent="0" marL="0">
              <a:buNone/>
            </a:pPr>
            <a:r>
              <a:rPr lang="en-US" sz="3000" b="1" dirty="0">
                <a:solidFill>
                  <a:srgbClr val="0B2038"/>
                </a:solidFill>
                <a:latin typeface="Cambria" pitchFamily="34" charset="0"/>
                <a:ea typeface="Cambria" pitchFamily="34" charset="-122"/>
                <a:cs typeface="Cambria" pitchFamily="34" charset="-120"/>
              </a:rPr>
              <a:t>Does It Hold Up in a Real Chat Response?</a:t>
            </a:r>
            <a:endParaRPr lang="en-US" sz="3000" dirty="0"/>
          </a:p>
        </p:txBody>
      </p:sp>
      <p:pic>
        <p:nvPicPr>
          <p:cNvPr id="6" name="Image 1" descr="/tmp/claude-1001/-home-npalmass-work-Evol-inference/a73e848c-9ae9-41bb-8cca-4eccbf875541/scratchpad/tensorrt_deck/phase5b_chart.png">    </p:cNvPr>
          <p:cNvPicPr>
            <a:picLocks noChangeAspect="1"/>
          </p:cNvPicPr>
          <p:nvPr/>
        </p:nvPicPr>
        <p:blipFill>
          <a:blip r:embed="rId2"/>
          <a:stretch>
            <a:fillRect/>
          </a:stretch>
        </p:blipFill>
        <p:spPr>
          <a:xfrm>
            <a:off x="2003908" y="1207008"/>
            <a:ext cx="8183880" cy="4160520"/>
          </a:xfrm>
          <a:prstGeom prst="rect">
            <a:avLst/>
          </a:prstGeom>
        </p:spPr>
      </p:pic>
      <p:sp>
        <p:nvSpPr>
          <p:cNvPr id="7" name="Shape 3"/>
          <p:cNvSpPr/>
          <p:nvPr/>
        </p:nvSpPr>
        <p:spPr>
          <a:xfrm>
            <a:off x="502920" y="5532120"/>
            <a:ext cx="11155680" cy="566928"/>
          </a:xfrm>
          <a:prstGeom prst="roundRect">
            <a:avLst>
              <a:gd name="adj" fmla="val 16129"/>
            </a:avLst>
          </a:prstGeom>
          <a:solidFill>
            <a:srgbClr val="0B2038"/>
          </a:solidFill>
          <a:ln/>
        </p:spPr>
      </p:sp>
      <p:sp>
        <p:nvSpPr>
          <p:cNvPr id="8" name="Text 4"/>
          <p:cNvSpPr txBox="1"/>
          <p:nvPr/>
        </p:nvSpPr>
        <p:spPr>
          <a:xfrm>
            <a:off x="777240" y="5532120"/>
            <a:ext cx="10607040" cy="566928"/>
          </a:xfrm>
          <a:prstGeom prst="rect">
            <a:avLst/>
          </a:prstGeom>
          <a:noFill/>
          <a:ln/>
        </p:spPr>
        <p:txBody>
          <a:bodyPr wrap="square" lIns="0" tIns="0" rIns="0" bIns="0" rtlCol="0" anchor="ctr"/>
          <a:lstStyle/>
          <a:p>
            <a:pPr indent="0" marL="0">
              <a:buNone/>
            </a:pPr>
            <a:r>
              <a:rPr lang="en-US" sz="1400" b="1" dirty="0">
                <a:solidFill>
                  <a:srgbClr val="F2A93B"/>
                </a:solidFill>
                <a:latin typeface="Calibri" pitchFamily="34" charset="0"/>
                <a:ea typeface="Calibri" pitchFamily="34" charset="-122"/>
                <a:cs typeface="Calibri" pitchFamily="34" charset="-120"/>
              </a:rPr>
              <a:t>Yes: </a:t>
            </a:r>
            <a:pPr indent="0" marL="0">
              <a:buNone/>
            </a:pPr>
            <a:r>
              <a:rPr lang="en-US" sz="1250" dirty="0">
                <a:solidFill>
                  <a:srgbClr val="FFFFFF"/>
                </a:solidFill>
                <a:latin typeface="Calibri" pitchFamily="34" charset="0"/>
                <a:ea typeface="Calibri" pitchFamily="34" charset="-122"/>
                <a:cs typeface="Calibri" pitchFamily="34" charset="-120"/>
              </a:rPr>
              <a:t>9.57x end-to-end across 18 full chat responses (95% CI 9.15x–9.99x) — matching Phase 5’s isolated ~9x finding almost exactly. The speedup is a property of the kernel, not an artifact of testing it alone.</a:t>
            </a:r>
            <a:endParaRPr lang="en-US" sz="1400" dirty="0"/>
          </a:p>
        </p:txBody>
      </p:sp>
      <p:sp>
        <p:nvSpPr>
          <p:cNvPr id="9" name="Text 5"/>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TensorRT_plugin — Engineering Results Overview</a:t>
            </a:r>
            <a:endParaRPr lang="en-US" sz="1000" dirty="0"/>
          </a:p>
        </p:txBody>
      </p:sp>
      <p:sp>
        <p:nvSpPr>
          <p:cNvPr id="10" name="Text 6"/>
          <p:cNvSpPr txBox="1"/>
          <p:nvPr/>
        </p:nvSpPr>
        <p:spPr>
          <a:xfrm>
            <a:off x="11460175" y="6446520"/>
            <a:ext cx="4572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C7293"/>
          </a:solidFill>
          <a:ln/>
        </p:spPr>
      </p:sp>
      <p:pic>
        <p:nvPicPr>
          <p:cNvPr id="3" name="Image 0" descr="/tmp/claude-1001/-home-npalmass-work-Evol-inference/a73e848c-9ae9-41bb-8cca-4eccbf875541/scratchpad/tensorrt_deck/icon_question.png">    </p:cNvPr>
          <p:cNvPicPr>
            <a:picLocks noChangeAspect="1"/>
          </p:cNvPicPr>
          <p:nvPr/>
        </p:nvPicPr>
        <p:blipFill>
          <a:blip r:embed="rId1"/>
          <a:stretch>
            <a:fillRect/>
          </a:stretch>
        </p:blipFill>
        <p:spPr>
          <a:xfrm>
            <a:off x="638983" y="520111"/>
            <a:ext cx="294803" cy="294803"/>
          </a:xfrm>
          <a:prstGeom prst="rect">
            <a:avLst/>
          </a:prstGeom>
        </p:spPr>
      </p:pic>
      <p:sp>
        <p:nvSpPr>
          <p:cNvPr id="4" name="Text 1"/>
          <p:cNvSpPr txBox="1"/>
          <p:nvPr/>
        </p:nvSpPr>
        <p:spPr>
          <a:xfrm>
            <a:off x="1252728" y="384048"/>
            <a:ext cx="10436047" cy="256032"/>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READING THE RESULTS HONESTLY</a:t>
            </a:r>
            <a:endParaRPr lang="en-US" sz="1200" dirty="0"/>
          </a:p>
        </p:txBody>
      </p:sp>
      <p:sp>
        <p:nvSpPr>
          <p:cNvPr id="5" name="Text 2"/>
          <p:cNvSpPr txBox="1"/>
          <p:nvPr/>
        </p:nvSpPr>
        <p:spPr>
          <a:xfrm>
            <a:off x="1252728" y="621792"/>
            <a:ext cx="10436047" cy="457200"/>
          </a:xfrm>
          <a:prstGeom prst="rect">
            <a:avLst/>
          </a:prstGeom>
          <a:noFill/>
          <a:ln/>
        </p:spPr>
        <p:txBody>
          <a:bodyPr wrap="square" lIns="0" tIns="0" rIns="0" bIns="0" rtlCol="0" anchor="ctr"/>
          <a:lstStyle/>
          <a:p>
            <a:pPr indent="0" marL="0">
              <a:buNone/>
            </a:pPr>
            <a:r>
              <a:rPr lang="en-US" sz="3000" b="1" dirty="0">
                <a:solidFill>
                  <a:srgbClr val="0B2038"/>
                </a:solidFill>
                <a:latin typeface="Cambria" pitchFamily="34" charset="0"/>
                <a:ea typeface="Cambria" pitchFamily="34" charset="-122"/>
                <a:cs typeface="Cambria" pitchFamily="34" charset="-120"/>
              </a:rPr>
              <a:t>Are These Numbers Representative of Real Use?</a:t>
            </a:r>
            <a:endParaRPr lang="en-US" sz="3000" dirty="0"/>
          </a:p>
        </p:txBody>
      </p:sp>
      <p:sp>
        <p:nvSpPr>
          <p:cNvPr id="6" name="Text 3"/>
          <p:cNvSpPr txBox="1"/>
          <p:nvPr/>
        </p:nvSpPr>
        <p:spPr>
          <a:xfrm>
            <a:off x="502920" y="1417320"/>
            <a:ext cx="11155680" cy="411480"/>
          </a:xfrm>
          <a:prstGeom prst="rect">
            <a:avLst/>
          </a:prstGeom>
          <a:noFill/>
          <a:ln/>
        </p:spPr>
        <p:txBody>
          <a:bodyPr wrap="square" lIns="0" tIns="0" rIns="0" bIns="0" rtlCol="0" anchor="ctr"/>
          <a:lstStyle/>
          <a:p>
            <a:pPr indent="0" marL="0">
              <a:buNone/>
            </a:pPr>
            <a:r>
              <a:rPr lang="en-US" sz="1450" i="1" dirty="0">
                <a:solidFill>
                  <a:srgbClr val="1C7293"/>
                </a:solidFill>
                <a:latin typeface="Calibri" pitchFamily="34" charset="0"/>
                <a:ea typeface="Calibri" pitchFamily="34" charset="-122"/>
                <a:cs typeface="Calibri" pitchFamily="34" charset="-120"/>
              </a:rPr>
              <a:t>Updated answer: the single-user, one-chat-at-a-time case is now tested and confirmed. What’s still open is production-scale serving.</a:t>
            </a:r>
            <a:endParaRPr lang="en-US" sz="1450" dirty="0"/>
          </a:p>
        </p:txBody>
      </p:sp>
      <p:sp>
        <p:nvSpPr>
          <p:cNvPr id="7" name="Shape 4"/>
          <p:cNvSpPr/>
          <p:nvPr/>
        </p:nvSpPr>
        <p:spPr>
          <a:xfrm>
            <a:off x="502920" y="1920240"/>
            <a:ext cx="5303520" cy="3200400"/>
          </a:xfrm>
          <a:prstGeom prst="roundRect">
            <a:avLst>
              <a:gd name="adj" fmla="val 2286"/>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8" name="Text 5"/>
          <p:cNvSpPr txBox="1"/>
          <p:nvPr/>
        </p:nvSpPr>
        <p:spPr>
          <a:xfrm>
            <a:off x="777240" y="2176272"/>
            <a:ext cx="4754880" cy="365760"/>
          </a:xfrm>
          <a:prstGeom prst="rect">
            <a:avLst/>
          </a:prstGeom>
          <a:noFill/>
          <a:ln/>
        </p:spPr>
        <p:txBody>
          <a:bodyPr wrap="square" lIns="0" tIns="0" rIns="0" bIns="0" rtlCol="0" anchor="ctr"/>
          <a:lstStyle/>
          <a:p>
            <a:pPr indent="0" marL="0">
              <a:buNone/>
            </a:pPr>
            <a:r>
              <a:rPr lang="en-US" sz="1600" b="1" dirty="0">
                <a:solidFill>
                  <a:srgbClr val="0B2038"/>
                </a:solidFill>
                <a:latin typeface="Cambria" pitchFamily="34" charset="0"/>
                <a:ea typeface="Cambria" pitchFamily="34" charset="-122"/>
                <a:cs typeface="Cambria" pitchFamily="34" charset="-120"/>
              </a:rPr>
              <a:t>What’s Now Been Tested</a:t>
            </a:r>
            <a:endParaRPr lang="en-US" sz="1600" dirty="0"/>
          </a:p>
        </p:txBody>
      </p:sp>
      <p:sp>
        <p:nvSpPr>
          <p:cNvPr id="9" name="Text 6"/>
          <p:cNvSpPr txBox="1"/>
          <p:nvPr/>
        </p:nvSpPr>
        <p:spPr>
          <a:xfrm>
            <a:off x="777240" y="2697480"/>
            <a:ext cx="4754880" cy="2194560"/>
          </a:xfrm>
          <a:prstGeom prst="rect">
            <a:avLst/>
          </a:prstGeom>
          <a:noFill/>
          <a:ln/>
        </p:spPr>
        <p:txBody>
          <a:bodyPr wrap="square" lIns="0" tIns="0" rIns="0" bIns="0" rtlCol="0" anchor="t"/>
          <a:lstStyle/>
          <a:p>
            <a:pPr marL="177800" indent="-177800">
              <a:lnSpc>
                <a:spcPct val="115000"/>
              </a:lnSpc>
              <a:spcAft>
                <a:spcPts val="1000"/>
              </a:spcAft>
              <a:buSzPct val="100000"/>
              <a:buChar char="•"/>
            </a:pPr>
            <a:r>
              <a:rPr lang="en-US" sz="1300" dirty="0">
                <a:solidFill>
                  <a:srgbClr val="16232E"/>
                </a:solidFill>
                <a:latin typeface="Calibri" pitchFamily="34" charset="0"/>
                <a:ea typeface="Calibri" pitchFamily="34" charset="-122"/>
                <a:cs typeface="Calibri" pitchFamily="34" charset="-120"/>
              </a:rPr>
              <a:t>A full, real chat response — all 32 transformer layers, real tokenizer, real generate() loop, not one isolated layer</a:t>
            </a:r>
            <a:endParaRPr lang="en-US" sz="1300" dirty="0"/>
          </a:p>
          <a:p>
            <a:pPr marL="177800" indent="-177800">
              <a:lnSpc>
                <a:spcPct val="115000"/>
              </a:lnSpc>
              <a:spcAft>
                <a:spcPts val="1000"/>
              </a:spcAft>
              <a:buSzPct val="100000"/>
              <a:buChar char="•"/>
            </a:pPr>
            <a:r>
              <a:rPr lang="en-US" sz="1300" dirty="0">
                <a:solidFill>
                  <a:srgbClr val="16232E"/>
                </a:solidFill>
                <a:latin typeface="Calibri" pitchFamily="34" charset="0"/>
                <a:ea typeface="Calibri" pitchFamily="34" charset="-122"/>
                <a:cs typeface="Calibri" pitchFamily="34" charset="-120"/>
              </a:rPr>
              <a:t>18 different prompts spanning short, medium, and long complexity</a:t>
            </a:r>
            <a:endParaRPr lang="en-US" sz="1300" dirty="0"/>
          </a:p>
          <a:p>
            <a:pPr marL="177800" indent="-177800">
              <a:lnSpc>
                <a:spcPct val="115000"/>
              </a:lnSpc>
              <a:spcAft>
                <a:spcPts val="1000"/>
              </a:spcAft>
              <a:buSzPct val="100000"/>
              <a:buChar char="•"/>
            </a:pPr>
            <a:r>
              <a:rPr lang="en-US" sz="1300" dirty="0">
                <a:solidFill>
                  <a:srgbClr val="16232E"/>
                </a:solidFill>
                <a:latin typeface="Calibri" pitchFamily="34" charset="0"/>
                <a:ea typeface="Calibri" pitchFamily="34" charset="-122"/>
                <a:cs typeface="Calibri" pitchFamily="34" charset="-120"/>
              </a:rPr>
              <a:t>Result: 9.57x speedup survives end to end, matching the isolated ~9x finding almost exactly</a:t>
            </a:r>
            <a:endParaRPr lang="en-US" sz="1300" dirty="0"/>
          </a:p>
        </p:txBody>
      </p:sp>
      <p:sp>
        <p:nvSpPr>
          <p:cNvPr id="10" name="Shape 7"/>
          <p:cNvSpPr/>
          <p:nvPr/>
        </p:nvSpPr>
        <p:spPr>
          <a:xfrm>
            <a:off x="6126480" y="1920240"/>
            <a:ext cx="5303520" cy="3200400"/>
          </a:xfrm>
          <a:prstGeom prst="roundRect">
            <a:avLst>
              <a:gd name="adj" fmla="val 2286"/>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11" name="Text 8"/>
          <p:cNvSpPr txBox="1"/>
          <p:nvPr/>
        </p:nvSpPr>
        <p:spPr>
          <a:xfrm>
            <a:off x="6400800" y="2176272"/>
            <a:ext cx="4754880" cy="365760"/>
          </a:xfrm>
          <a:prstGeom prst="rect">
            <a:avLst/>
          </a:prstGeom>
          <a:noFill/>
          <a:ln/>
        </p:spPr>
        <p:txBody>
          <a:bodyPr wrap="square" lIns="0" tIns="0" rIns="0" bIns="0" rtlCol="0" anchor="ctr"/>
          <a:lstStyle/>
          <a:p>
            <a:pPr indent="0" marL="0">
              <a:buNone/>
            </a:pPr>
            <a:r>
              <a:rPr lang="en-US" sz="1600" b="1" dirty="0">
                <a:solidFill>
                  <a:srgbClr val="0B2038"/>
                </a:solidFill>
                <a:latin typeface="Cambria" pitchFamily="34" charset="0"/>
                <a:ea typeface="Cambria" pitchFamily="34" charset="-122"/>
                <a:cs typeface="Cambria" pitchFamily="34" charset="-120"/>
              </a:rPr>
              <a:t>What’s Still Not Tested</a:t>
            </a:r>
            <a:endParaRPr lang="en-US" sz="1600" dirty="0"/>
          </a:p>
        </p:txBody>
      </p:sp>
      <p:sp>
        <p:nvSpPr>
          <p:cNvPr id="12" name="Text 9"/>
          <p:cNvSpPr txBox="1"/>
          <p:nvPr/>
        </p:nvSpPr>
        <p:spPr>
          <a:xfrm>
            <a:off x="6400800" y="2697480"/>
            <a:ext cx="4754880" cy="2194560"/>
          </a:xfrm>
          <a:prstGeom prst="rect">
            <a:avLst/>
          </a:prstGeom>
          <a:noFill/>
          <a:ln/>
        </p:spPr>
        <p:txBody>
          <a:bodyPr wrap="square" lIns="0" tIns="0" rIns="0" bIns="0" rtlCol="0" anchor="t"/>
          <a:lstStyle/>
          <a:p>
            <a:pPr marL="177800" indent="-177800">
              <a:lnSpc>
                <a:spcPct val="115000"/>
              </a:lnSpc>
              <a:spcAft>
                <a:spcPts val="1000"/>
              </a:spcAft>
              <a:buSzPct val="100000"/>
              <a:buChar char="•"/>
            </a:pPr>
            <a:r>
              <a:rPr lang="en-US" sz="1300" dirty="0">
                <a:solidFill>
                  <a:srgbClr val="16232E"/>
                </a:solidFill>
                <a:latin typeface="Calibri" pitchFamily="34" charset="0"/>
                <a:ea typeface="Calibri" pitchFamily="34" charset="-122"/>
                <a:cs typeface="Calibri" pitchFamily="34" charset="-120"/>
              </a:rPr>
              <a:t>Concurrent, multi-user production serving at real scale (the concurrency test used one synthetic workload, not many simultaneous chats)</a:t>
            </a:r>
            <a:endParaRPr lang="en-US" sz="1300" dirty="0"/>
          </a:p>
          <a:p>
            <a:pPr marL="177800" indent="-177800">
              <a:lnSpc>
                <a:spcPct val="115000"/>
              </a:lnSpc>
              <a:spcAft>
                <a:spcPts val="1000"/>
              </a:spcAft>
              <a:buSzPct val="100000"/>
              <a:buChar char="•"/>
            </a:pPr>
            <a:r>
              <a:rPr lang="en-US" sz="1300" dirty="0">
                <a:solidFill>
                  <a:srgbClr val="16232E"/>
                </a:solidFill>
                <a:latin typeface="Calibri" pitchFamily="34" charset="0"/>
                <a:ea typeface="Calibri" pitchFamily="34" charset="-122"/>
                <a:cs typeface="Calibri" pitchFamily="34" charset="-120"/>
              </a:rPr>
              <a:t>Longer contexts and larger batch sizes than tested here</a:t>
            </a:r>
            <a:endParaRPr lang="en-US" sz="1300" dirty="0"/>
          </a:p>
          <a:p>
            <a:pPr marL="177800" indent="-177800">
              <a:lnSpc>
                <a:spcPct val="115000"/>
              </a:lnSpc>
              <a:spcAft>
                <a:spcPts val="1000"/>
              </a:spcAft>
              <a:buSzPct val="100000"/>
              <a:buChar char="•"/>
            </a:pPr>
            <a:r>
              <a:rPr lang="en-US" sz="1300" dirty="0">
                <a:solidFill>
                  <a:srgbClr val="16232E"/>
                </a:solidFill>
                <a:latin typeface="Calibri" pitchFamily="34" charset="0"/>
                <a:ea typeface="Calibri" pitchFamily="34" charset="-122"/>
                <a:cs typeface="Calibri" pitchFamily="34" charset="-120"/>
              </a:rPr>
              <a:t>Attention and KV-cache work, which this project didn’t build (noted stretch goal)</a:t>
            </a:r>
            <a:endParaRPr lang="en-US" sz="1300" dirty="0"/>
          </a:p>
        </p:txBody>
      </p:sp>
      <p:sp>
        <p:nvSpPr>
          <p:cNvPr id="13" name="Shape 10"/>
          <p:cNvSpPr/>
          <p:nvPr/>
        </p:nvSpPr>
        <p:spPr>
          <a:xfrm>
            <a:off x="502920" y="5303520"/>
            <a:ext cx="11155680" cy="640080"/>
          </a:xfrm>
          <a:prstGeom prst="roundRect">
            <a:avLst>
              <a:gd name="adj" fmla="val 14286"/>
            </a:avLst>
          </a:prstGeom>
          <a:solidFill>
            <a:srgbClr val="0B2038"/>
          </a:solidFill>
          <a:ln/>
        </p:spPr>
      </p:sp>
      <p:sp>
        <p:nvSpPr>
          <p:cNvPr id="14" name="Text 11"/>
          <p:cNvSpPr txBox="1"/>
          <p:nvPr/>
        </p:nvSpPr>
        <p:spPr>
          <a:xfrm>
            <a:off x="777240" y="5303520"/>
            <a:ext cx="10607040" cy="64008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The op-level win generalizes to a full response for one user. The remaining open question is whether it holds under real concurrent production load — not whether it holds for a single chat.</a:t>
            </a:r>
            <a:endParaRPr lang="en-US" sz="1250" dirty="0"/>
          </a:p>
        </p:txBody>
      </p:sp>
      <p:sp>
        <p:nvSpPr>
          <p:cNvPr id="15" name="Text 12"/>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TensorRT_plugin — Engineering Results Overview</a:t>
            </a:r>
            <a:endParaRPr lang="en-US" sz="1000" dirty="0"/>
          </a:p>
        </p:txBody>
      </p:sp>
      <p:sp>
        <p:nvSpPr>
          <p:cNvPr id="16" name="Text 13"/>
          <p:cNvSpPr txBox="1"/>
          <p:nvPr/>
        </p:nvSpPr>
        <p:spPr>
          <a:xfrm>
            <a:off x="11460175" y="6446520"/>
            <a:ext cx="4572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C7293"/>
          </a:solidFill>
          <a:ln/>
        </p:spPr>
      </p:sp>
      <p:pic>
        <p:nvPicPr>
          <p:cNvPr id="3" name="Image 0" descr="/tmp/claude-1001/-home-npalmass-work-Evol-inference/a73e848c-9ae9-41bb-8cca-4eccbf875541/scratchpad/tensorrt_deck/icon_gauge.png">    </p:cNvPr>
          <p:cNvPicPr>
            <a:picLocks noChangeAspect="1"/>
          </p:cNvPicPr>
          <p:nvPr/>
        </p:nvPicPr>
        <p:blipFill>
          <a:blip r:embed="rId1"/>
          <a:stretch>
            <a:fillRect/>
          </a:stretch>
        </p:blipFill>
        <p:spPr>
          <a:xfrm>
            <a:off x="638983" y="520111"/>
            <a:ext cx="294803" cy="294803"/>
          </a:xfrm>
          <a:prstGeom prst="rect">
            <a:avLst/>
          </a:prstGeom>
        </p:spPr>
      </p:pic>
      <p:sp>
        <p:nvSpPr>
          <p:cNvPr id="4" name="Text 1"/>
          <p:cNvSpPr txBox="1"/>
          <p:nvPr/>
        </p:nvSpPr>
        <p:spPr>
          <a:xfrm>
            <a:off x="1252728" y="384048"/>
            <a:ext cx="10436047" cy="256032"/>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STRETCH GOAL</a:t>
            </a:r>
            <a:endParaRPr lang="en-US" sz="1200" dirty="0"/>
          </a:p>
        </p:txBody>
      </p:sp>
      <p:sp>
        <p:nvSpPr>
          <p:cNvPr id="5" name="Text 2"/>
          <p:cNvSpPr txBox="1"/>
          <p:nvPr/>
        </p:nvSpPr>
        <p:spPr>
          <a:xfrm>
            <a:off x="1252728" y="621792"/>
            <a:ext cx="10436047" cy="457200"/>
          </a:xfrm>
          <a:prstGeom prst="rect">
            <a:avLst/>
          </a:prstGeom>
          <a:noFill/>
          <a:ln/>
        </p:spPr>
        <p:txBody>
          <a:bodyPr wrap="square" lIns="0" tIns="0" rIns="0" bIns="0" rtlCol="0" anchor="ctr"/>
          <a:lstStyle/>
          <a:p>
            <a:pPr indent="0" marL="0">
              <a:buNone/>
            </a:pPr>
            <a:r>
              <a:rPr lang="en-US" sz="3000" b="1" dirty="0">
                <a:solidFill>
                  <a:srgbClr val="0B2038"/>
                </a:solidFill>
                <a:latin typeface="Cambria" pitchFamily="34" charset="0"/>
                <a:ea typeface="Cambria" pitchFamily="34" charset="-122"/>
                <a:cs typeface="Cambria" pitchFamily="34" charset="-120"/>
              </a:rPr>
              <a:t>A Different Idea: Speculative Decoding</a:t>
            </a:r>
            <a:endParaRPr lang="en-US" sz="3000" dirty="0"/>
          </a:p>
        </p:txBody>
      </p:sp>
      <p:sp>
        <p:nvSpPr>
          <p:cNvPr id="6" name="Shape 3"/>
          <p:cNvSpPr/>
          <p:nvPr/>
        </p:nvSpPr>
        <p:spPr>
          <a:xfrm>
            <a:off x="502920" y="1600200"/>
            <a:ext cx="5303520" cy="3063240"/>
          </a:xfrm>
          <a:prstGeom prst="roundRect">
            <a:avLst>
              <a:gd name="adj" fmla="val 2388"/>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7" name="Shape 4"/>
          <p:cNvSpPr/>
          <p:nvPr/>
        </p:nvSpPr>
        <p:spPr>
          <a:xfrm>
            <a:off x="777240" y="1874520"/>
            <a:ext cx="502920" cy="502920"/>
          </a:xfrm>
          <a:prstGeom prst="ellipse">
            <a:avLst/>
          </a:prstGeom>
          <a:solidFill>
            <a:srgbClr val="1C7293"/>
          </a:solidFill>
          <a:ln/>
        </p:spPr>
      </p:sp>
      <p:pic>
        <p:nvPicPr>
          <p:cNvPr id="8" name="Image 1" descr="/tmp/claude-1001/-home-npalmass-work-Evol-inference/a73e848c-9ae9-41bb-8cca-4eccbf875541/scratchpad/tensorrt_deck/icon_gauge.png">    </p:cNvPr>
          <p:cNvPicPr>
            <a:picLocks noChangeAspect="1"/>
          </p:cNvPicPr>
          <p:nvPr/>
        </p:nvPicPr>
        <p:blipFill>
          <a:blip r:embed="rId2"/>
          <a:stretch>
            <a:fillRect/>
          </a:stretch>
        </p:blipFill>
        <p:spPr>
          <a:xfrm>
            <a:off x="897941" y="1995221"/>
            <a:ext cx="261518" cy="261518"/>
          </a:xfrm>
          <a:prstGeom prst="rect">
            <a:avLst/>
          </a:prstGeom>
        </p:spPr>
      </p:pic>
      <p:sp>
        <p:nvSpPr>
          <p:cNvPr id="9" name="Text 5"/>
          <p:cNvSpPr txBox="1"/>
          <p:nvPr/>
        </p:nvSpPr>
        <p:spPr>
          <a:xfrm>
            <a:off x="1417320" y="1856232"/>
            <a:ext cx="4114800" cy="457200"/>
          </a:xfrm>
          <a:prstGeom prst="rect">
            <a:avLst/>
          </a:prstGeom>
          <a:noFill/>
          <a:ln/>
        </p:spPr>
        <p:txBody>
          <a:bodyPr wrap="square" lIns="0" tIns="0" rIns="0" bIns="0" rtlCol="0" anchor="ctr"/>
          <a:lstStyle/>
          <a:p>
            <a:pPr indent="0" marL="0">
              <a:buNone/>
            </a:pPr>
            <a:r>
              <a:rPr lang="en-US" sz="1700" b="1" dirty="0">
                <a:solidFill>
                  <a:srgbClr val="0B2038"/>
                </a:solidFill>
                <a:latin typeface="Cambria" pitchFamily="34" charset="0"/>
                <a:ea typeface="Cambria" pitchFamily="34" charset="-122"/>
                <a:cs typeface="Cambria" pitchFamily="34" charset="-120"/>
              </a:rPr>
              <a:t>The Idea</a:t>
            </a:r>
            <a:endParaRPr lang="en-US" sz="1700" dirty="0"/>
          </a:p>
        </p:txBody>
      </p:sp>
      <p:sp>
        <p:nvSpPr>
          <p:cNvPr id="10" name="Text 6"/>
          <p:cNvSpPr txBox="1"/>
          <p:nvPr/>
        </p:nvSpPr>
        <p:spPr>
          <a:xfrm>
            <a:off x="777240" y="2468880"/>
            <a:ext cx="4754880" cy="1965960"/>
          </a:xfrm>
          <a:prstGeom prst="rect">
            <a:avLst/>
          </a:prstGeom>
          <a:noFill/>
          <a:ln/>
        </p:spPr>
        <p:txBody>
          <a:bodyPr wrap="square" lIns="0" tIns="0" rIns="0" bIns="0" rtlCol="0" anchor="t"/>
          <a:lstStyle/>
          <a:p>
            <a:pPr indent="0" marL="0">
              <a:lnSpc>
                <a:spcPct val="115000"/>
              </a:lnSpc>
              <a:buNone/>
            </a:pPr>
            <a:r>
              <a:rPr lang="en-US" sz="1300" dirty="0">
                <a:solidFill>
                  <a:srgbClr val="16232E"/>
                </a:solidFill>
                <a:latin typeface="Calibri" pitchFamily="34" charset="0"/>
                <a:ea typeface="Calibri" pitchFamily="34" charset="-122"/>
                <a:cs typeface="Calibri" pitchFamily="34" charset="-120"/>
              </a:rPr>
              <a:t>What if a small, fast "helper" model quickly guesses several next words at once, and the big, accurate model just checks those guesses in one pass — instead of writing every single word itself? When the guesses are right, that’s much faster than the big model working word by word.</a:t>
            </a:r>
            <a:endParaRPr lang="en-US" sz="1300" dirty="0"/>
          </a:p>
        </p:txBody>
      </p:sp>
      <p:sp>
        <p:nvSpPr>
          <p:cNvPr id="11" name="Shape 7"/>
          <p:cNvSpPr/>
          <p:nvPr/>
        </p:nvSpPr>
        <p:spPr>
          <a:xfrm>
            <a:off x="6126480" y="1600200"/>
            <a:ext cx="5303520" cy="3063240"/>
          </a:xfrm>
          <a:prstGeom prst="roundRect">
            <a:avLst>
              <a:gd name="adj" fmla="val 2388"/>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12" name="Shape 8"/>
          <p:cNvSpPr/>
          <p:nvPr/>
        </p:nvSpPr>
        <p:spPr>
          <a:xfrm>
            <a:off x="6400800" y="1874520"/>
            <a:ext cx="502920" cy="502920"/>
          </a:xfrm>
          <a:prstGeom prst="ellipse">
            <a:avLst/>
          </a:prstGeom>
          <a:solidFill>
            <a:srgbClr val="F2A93B"/>
          </a:solidFill>
          <a:ln/>
        </p:spPr>
      </p:sp>
      <p:pic>
        <p:nvPicPr>
          <p:cNvPr id="13" name="Image 2" descr="/tmp/claude-1001/-home-npalmass-work-Evol-inference/a73e848c-9ae9-41bb-8cca-4eccbf875541/scratchpad/tensorrt_deck/icon_check.png">    </p:cNvPr>
          <p:cNvPicPr>
            <a:picLocks noChangeAspect="1"/>
          </p:cNvPicPr>
          <p:nvPr/>
        </p:nvPicPr>
        <p:blipFill>
          <a:blip r:embed="rId3"/>
          <a:stretch>
            <a:fillRect/>
          </a:stretch>
        </p:blipFill>
        <p:spPr>
          <a:xfrm>
            <a:off x="6521501" y="1995221"/>
            <a:ext cx="261518" cy="261518"/>
          </a:xfrm>
          <a:prstGeom prst="rect">
            <a:avLst/>
          </a:prstGeom>
        </p:spPr>
      </p:pic>
      <p:sp>
        <p:nvSpPr>
          <p:cNvPr id="14" name="Text 9"/>
          <p:cNvSpPr txBox="1"/>
          <p:nvPr/>
        </p:nvSpPr>
        <p:spPr>
          <a:xfrm>
            <a:off x="7040880" y="1856232"/>
            <a:ext cx="4114800" cy="457200"/>
          </a:xfrm>
          <a:prstGeom prst="rect">
            <a:avLst/>
          </a:prstGeom>
          <a:noFill/>
          <a:ln/>
        </p:spPr>
        <p:txBody>
          <a:bodyPr wrap="square" lIns="0" tIns="0" rIns="0" bIns="0" rtlCol="0" anchor="ctr"/>
          <a:lstStyle/>
          <a:p>
            <a:pPr indent="0" marL="0">
              <a:buNone/>
            </a:pPr>
            <a:r>
              <a:rPr lang="en-US" sz="1700" b="1" dirty="0">
                <a:solidFill>
                  <a:srgbClr val="0B2038"/>
                </a:solidFill>
                <a:latin typeface="Cambria" pitchFamily="34" charset="0"/>
                <a:ea typeface="Cambria" pitchFamily="34" charset="-122"/>
                <a:cs typeface="Cambria" pitchFamily="34" charset="-120"/>
              </a:rPr>
              <a:t>How We Proved It’s Still Correct</a:t>
            </a:r>
            <a:endParaRPr lang="en-US" sz="1700" dirty="0"/>
          </a:p>
        </p:txBody>
      </p:sp>
      <p:sp>
        <p:nvSpPr>
          <p:cNvPr id="15" name="Text 10"/>
          <p:cNvSpPr txBox="1"/>
          <p:nvPr/>
        </p:nvSpPr>
        <p:spPr>
          <a:xfrm>
            <a:off x="6400800" y="2468880"/>
            <a:ext cx="4754880" cy="1965960"/>
          </a:xfrm>
          <a:prstGeom prst="rect">
            <a:avLst/>
          </a:prstGeom>
          <a:noFill/>
          <a:ln/>
        </p:spPr>
        <p:txBody>
          <a:bodyPr wrap="square" lIns="0" tIns="0" rIns="0" bIns="0" rtlCol="0" anchor="t"/>
          <a:lstStyle/>
          <a:p>
            <a:pPr indent="0" marL="0">
              <a:lnSpc>
                <a:spcPct val="115000"/>
              </a:lnSpc>
              <a:buNone/>
            </a:pPr>
            <a:r>
              <a:rPr lang="en-US" sz="1300" dirty="0">
                <a:solidFill>
                  <a:srgbClr val="16232E"/>
                </a:solidFill>
                <a:latin typeface="Calibri" pitchFamily="34" charset="0"/>
                <a:ea typeface="Calibri" pitchFamily="34" charset="-122"/>
                <a:cs typeface="Calibri" pitchFamily="34" charset="-120"/>
              </a:rPr>
              <a:t>The helper’s guesses are only ever a proposal — the big model always has final say. This design guarantees the output must always exactly match what the big model would have written alone, word for word. We didn’t just trust that guarantee — we checked real outputs against each other directly, and only then trusted any speed measurement.</a:t>
            </a:r>
            <a:endParaRPr lang="en-US" sz="1300" dirty="0"/>
          </a:p>
        </p:txBody>
      </p:sp>
      <p:sp>
        <p:nvSpPr>
          <p:cNvPr id="16" name="Shape 11"/>
          <p:cNvSpPr/>
          <p:nvPr/>
        </p:nvSpPr>
        <p:spPr>
          <a:xfrm>
            <a:off x="502920" y="4892040"/>
            <a:ext cx="11155680" cy="621792"/>
          </a:xfrm>
          <a:prstGeom prst="roundRect">
            <a:avLst>
              <a:gd name="adj" fmla="val 14706"/>
            </a:avLst>
          </a:prstGeom>
          <a:solidFill>
            <a:srgbClr val="0B2038"/>
          </a:solidFill>
          <a:ln/>
        </p:spPr>
      </p:sp>
      <p:sp>
        <p:nvSpPr>
          <p:cNvPr id="17" name="Text 12"/>
          <p:cNvSpPr txBox="1"/>
          <p:nvPr/>
        </p:nvSpPr>
        <p:spPr>
          <a:xfrm>
            <a:off x="777240" y="4892040"/>
            <a:ext cx="10607040" cy="621792"/>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Like a junior writer drafting a paragraph and a senior editor reviewing it in one pass — instead of the editor writing every single word themselves.</a:t>
            </a:r>
            <a:endParaRPr lang="en-US" sz="1300" dirty="0"/>
          </a:p>
        </p:txBody>
      </p:sp>
      <p:sp>
        <p:nvSpPr>
          <p:cNvPr id="18" name="Text 13"/>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TensorRT_plugin — Engineering Results Overview</a:t>
            </a:r>
            <a:endParaRPr lang="en-US" sz="1000" dirty="0"/>
          </a:p>
        </p:txBody>
      </p:sp>
      <p:sp>
        <p:nvSpPr>
          <p:cNvPr id="19" name="Text 14"/>
          <p:cNvSpPr txBox="1"/>
          <p:nvPr/>
        </p:nvSpPr>
        <p:spPr>
          <a:xfrm>
            <a:off x="11460175" y="6446520"/>
            <a:ext cx="4572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C7293"/>
          </a:solidFill>
          <a:ln/>
        </p:spPr>
      </p:sp>
      <p:pic>
        <p:nvPicPr>
          <p:cNvPr id="3" name="Image 0" descr="/tmp/claude-1001/-home-npalmass-work-Evol-inference/a73e848c-9ae9-41bb-8cca-4eccbf875541/scratchpad/tensorrt_deck/icon_gauge.png">    </p:cNvPr>
          <p:cNvPicPr>
            <a:picLocks noChangeAspect="1"/>
          </p:cNvPicPr>
          <p:nvPr/>
        </p:nvPicPr>
        <p:blipFill>
          <a:blip r:embed="rId1"/>
          <a:stretch>
            <a:fillRect/>
          </a:stretch>
        </p:blipFill>
        <p:spPr>
          <a:xfrm>
            <a:off x="638983" y="520111"/>
            <a:ext cx="294803" cy="294803"/>
          </a:xfrm>
          <a:prstGeom prst="rect">
            <a:avLst/>
          </a:prstGeom>
        </p:spPr>
      </p:pic>
      <p:sp>
        <p:nvSpPr>
          <p:cNvPr id="4" name="Text 1"/>
          <p:cNvSpPr txBox="1"/>
          <p:nvPr/>
        </p:nvSpPr>
        <p:spPr>
          <a:xfrm>
            <a:off x="1252728" y="384048"/>
            <a:ext cx="10436047" cy="256032"/>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STRETCH GOAL</a:t>
            </a:r>
            <a:endParaRPr lang="en-US" sz="1200" dirty="0"/>
          </a:p>
        </p:txBody>
      </p:sp>
      <p:sp>
        <p:nvSpPr>
          <p:cNvPr id="5" name="Text 2"/>
          <p:cNvSpPr txBox="1"/>
          <p:nvPr/>
        </p:nvSpPr>
        <p:spPr>
          <a:xfrm>
            <a:off x="1252728" y="621792"/>
            <a:ext cx="10436047" cy="457200"/>
          </a:xfrm>
          <a:prstGeom prst="rect">
            <a:avLst/>
          </a:prstGeom>
          <a:noFill/>
          <a:ln/>
        </p:spPr>
        <p:txBody>
          <a:bodyPr wrap="square" lIns="0" tIns="0" rIns="0" bIns="0" rtlCol="0" anchor="ctr"/>
          <a:lstStyle/>
          <a:p>
            <a:pPr indent="0" marL="0">
              <a:buNone/>
            </a:pPr>
            <a:r>
              <a:rPr lang="en-US" sz="3000" b="1" dirty="0">
                <a:solidFill>
                  <a:srgbClr val="0B2038"/>
                </a:solidFill>
                <a:latin typeface="Cambria" pitchFamily="34" charset="0"/>
                <a:ea typeface="Cambria" pitchFamily="34" charset="-122"/>
                <a:cs typeface="Cambria" pitchFamily="34" charset="-120"/>
              </a:rPr>
              <a:t>Result: Not Faster Here — A Useful Negative Finding</a:t>
            </a:r>
            <a:endParaRPr lang="en-US" sz="3000" dirty="0"/>
          </a:p>
        </p:txBody>
      </p:sp>
      <p:sp>
        <p:nvSpPr>
          <p:cNvPr id="6" name="Shape 3"/>
          <p:cNvSpPr/>
          <p:nvPr/>
        </p:nvSpPr>
        <p:spPr>
          <a:xfrm>
            <a:off x="502920" y="1600200"/>
            <a:ext cx="4937760" cy="3063240"/>
          </a:xfrm>
          <a:prstGeom prst="roundRect">
            <a:avLst>
              <a:gd name="adj" fmla="val 2388"/>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7" name="Text 4"/>
          <p:cNvSpPr txBox="1"/>
          <p:nvPr/>
        </p:nvSpPr>
        <p:spPr>
          <a:xfrm>
            <a:off x="822960" y="1828800"/>
            <a:ext cx="4297680" cy="914400"/>
          </a:xfrm>
          <a:prstGeom prst="rect">
            <a:avLst/>
          </a:prstGeom>
          <a:noFill/>
          <a:ln/>
        </p:spPr>
        <p:txBody>
          <a:bodyPr wrap="square" lIns="0" tIns="0" rIns="0" bIns="0" rtlCol="0" anchor="ctr"/>
          <a:lstStyle/>
          <a:p>
            <a:pPr indent="0" marL="0">
              <a:buNone/>
            </a:pPr>
            <a:r>
              <a:rPr lang="en-US" sz="5600" b="1" dirty="0">
                <a:solidFill>
                  <a:srgbClr val="0B2038"/>
                </a:solidFill>
                <a:latin typeface="Cambria" pitchFamily="34" charset="0"/>
                <a:ea typeface="Cambria" pitchFamily="34" charset="-122"/>
                <a:cs typeface="Cambria" pitchFamily="34" charset="-120"/>
              </a:rPr>
              <a:t>9%</a:t>
            </a:r>
            <a:endParaRPr lang="en-US" sz="5600" dirty="0"/>
          </a:p>
        </p:txBody>
      </p:sp>
      <p:sp>
        <p:nvSpPr>
          <p:cNvPr id="8" name="Text 5"/>
          <p:cNvSpPr txBox="1"/>
          <p:nvPr/>
        </p:nvSpPr>
        <p:spPr>
          <a:xfrm>
            <a:off x="822960" y="2697480"/>
            <a:ext cx="4297680" cy="548640"/>
          </a:xfrm>
          <a:prstGeom prst="rect">
            <a:avLst/>
          </a:prstGeom>
          <a:noFill/>
          <a:ln/>
        </p:spPr>
        <p:txBody>
          <a:bodyPr wrap="square" lIns="0" tIns="0" rIns="0" bIns="0" rtlCol="0" anchor="ctr"/>
          <a:lstStyle/>
          <a:p>
            <a:pPr indent="0" marL="0">
              <a:buNone/>
            </a:pPr>
            <a:r>
              <a:rPr lang="en-US" sz="1350" dirty="0">
                <a:solidFill>
                  <a:srgbClr val="16232E"/>
                </a:solidFill>
                <a:latin typeface="Calibri" pitchFamily="34" charset="0"/>
                <a:ea typeface="Calibri" pitchFamily="34" charset="-122"/>
                <a:cs typeface="Calibri" pitchFamily="34" charset="-120"/>
              </a:rPr>
              <a:t>of the helper model’s guesses were actually right</a:t>
            </a:r>
            <a:endParaRPr lang="en-US" sz="1350" dirty="0"/>
          </a:p>
        </p:txBody>
      </p:sp>
      <p:sp>
        <p:nvSpPr>
          <p:cNvPr id="9" name="Shape 6"/>
          <p:cNvSpPr/>
          <p:nvPr/>
        </p:nvSpPr>
        <p:spPr>
          <a:xfrm>
            <a:off x="822960" y="3337560"/>
            <a:ext cx="4297680" cy="960120"/>
          </a:xfrm>
          <a:prstGeom prst="roundRect">
            <a:avLst>
              <a:gd name="adj" fmla="val 7619"/>
            </a:avLst>
          </a:prstGeom>
          <a:solidFill>
            <a:srgbClr val="F2A93B"/>
          </a:solidFill>
          <a:ln/>
        </p:spPr>
      </p:sp>
      <p:sp>
        <p:nvSpPr>
          <p:cNvPr id="10" name="Text 7"/>
          <p:cNvSpPr txBox="1"/>
          <p:nvPr/>
        </p:nvSpPr>
        <p:spPr>
          <a:xfrm>
            <a:off x="822960" y="3337560"/>
            <a:ext cx="4297680" cy="960120"/>
          </a:xfrm>
          <a:prstGeom prst="rect">
            <a:avLst/>
          </a:prstGeom>
          <a:noFill/>
          <a:ln/>
        </p:spPr>
        <p:txBody>
          <a:bodyPr wrap="square" lIns="0" tIns="0" rIns="0" bIns="0" rtlCol="0" anchor="ctr"/>
          <a:lstStyle/>
          <a:p>
            <a:pPr algn="ctr" indent="0" marL="0">
              <a:buNone/>
            </a:pPr>
            <a:r>
              <a:rPr lang="en-US" sz="2400" b="1" dirty="0">
                <a:solidFill>
                  <a:srgbClr val="0B2038"/>
                </a:solidFill>
                <a:latin typeface="Cambria" pitchFamily="34" charset="0"/>
                <a:ea typeface="Cambria" pitchFamily="34" charset="-122"/>
                <a:cs typeface="Cambria" pitchFamily="34" charset="-120"/>
              </a:rPr>
              <a:t>~3.8x SLOWER</a:t>
            </a:r>
            <a:endParaRPr lang="en-US" sz="2400" dirty="0"/>
          </a:p>
        </p:txBody>
      </p:sp>
      <p:sp>
        <p:nvSpPr>
          <p:cNvPr id="11" name="Shape 8"/>
          <p:cNvSpPr/>
          <p:nvPr/>
        </p:nvSpPr>
        <p:spPr>
          <a:xfrm>
            <a:off x="5760720" y="1600200"/>
            <a:ext cx="5897880" cy="3063240"/>
          </a:xfrm>
          <a:prstGeom prst="roundRect">
            <a:avLst>
              <a:gd name="adj" fmla="val 2388"/>
            </a:avLst>
          </a:prstGeom>
          <a:solidFill>
            <a:srgbClr val="FFFFFF"/>
          </a:solidFill>
          <a:ln w="12700">
            <a:solidFill>
              <a:srgbClr val="E1E7ED"/>
            </a:solidFill>
            <a:prstDash val="solid"/>
          </a:ln>
          <a:effectLst>
            <a:outerShdw sx="100000" sy="100000" kx="0" ky="0" algn="bl" rotWithShape="0" blurRad="76200" dist="25400" dir="5400000">
              <a:srgbClr val="1B2430">
                <a:alpha val="12000"/>
              </a:srgbClr>
            </a:outerShdw>
          </a:effectLst>
        </p:spPr>
      </p:sp>
      <p:sp>
        <p:nvSpPr>
          <p:cNvPr id="12" name="Text 9"/>
          <p:cNvSpPr txBox="1"/>
          <p:nvPr/>
        </p:nvSpPr>
        <p:spPr>
          <a:xfrm>
            <a:off x="6035040" y="1828800"/>
            <a:ext cx="5349240" cy="365760"/>
          </a:xfrm>
          <a:prstGeom prst="rect">
            <a:avLst/>
          </a:prstGeom>
          <a:noFill/>
          <a:ln/>
        </p:spPr>
        <p:txBody>
          <a:bodyPr wrap="square" lIns="0" tIns="0" rIns="0" bIns="0" rtlCol="0" anchor="ctr"/>
          <a:lstStyle/>
          <a:p>
            <a:pPr indent="0" marL="0">
              <a:buNone/>
            </a:pPr>
            <a:r>
              <a:rPr lang="en-US" sz="1600" b="1" dirty="0">
                <a:solidFill>
                  <a:srgbClr val="0B2038"/>
                </a:solidFill>
                <a:latin typeface="Cambria" pitchFamily="34" charset="0"/>
                <a:ea typeface="Cambria" pitchFamily="34" charset="-122"/>
                <a:cs typeface="Cambria" pitchFamily="34" charset="-120"/>
              </a:rPr>
              <a:t>Why</a:t>
            </a:r>
            <a:endParaRPr lang="en-US" sz="1600" dirty="0"/>
          </a:p>
        </p:txBody>
      </p:sp>
      <p:sp>
        <p:nvSpPr>
          <p:cNvPr id="13" name="Text 10"/>
          <p:cNvSpPr txBox="1"/>
          <p:nvPr/>
        </p:nvSpPr>
        <p:spPr>
          <a:xfrm>
            <a:off x="6035040" y="2331720"/>
            <a:ext cx="5349240" cy="2194560"/>
          </a:xfrm>
          <a:prstGeom prst="rect">
            <a:avLst/>
          </a:prstGeom>
          <a:noFill/>
          <a:ln/>
        </p:spPr>
        <p:txBody>
          <a:bodyPr wrap="square" lIns="0" tIns="0" rIns="0" bIns="0" rtlCol="0" anchor="ctr"/>
          <a:lstStyle/>
          <a:p>
            <a:pPr indent="0" marL="0">
              <a:lnSpc>
                <a:spcPct val="118000"/>
              </a:lnSpc>
              <a:buNone/>
            </a:pPr>
            <a:r>
              <a:rPr lang="en-US" sz="1300" dirty="0">
                <a:solidFill>
                  <a:srgbClr val="16232E"/>
                </a:solidFill>
                <a:latin typeface="Calibri" pitchFamily="34" charset="0"/>
                <a:ea typeface="Calibri" pitchFamily="34" charset="-122"/>
                <a:cs typeface="Calibri" pitchFamily="34" charset="-120"/>
              </a:rPr>
              <a:t>The helper model (a small general-purpose chatbot) and the target model (Phi-3) were trained completely independently, by different teams, on different data. They happen to share the same vocabulary — which this trick requires — but sharing a vocabulary isn’t the same as usually picking the same next word. Like two writers who use the same dictionary but rarely happen to write identical sentences.</a:t>
            </a:r>
            <a:endParaRPr lang="en-US" sz="1300" dirty="0"/>
          </a:p>
        </p:txBody>
      </p:sp>
      <p:sp>
        <p:nvSpPr>
          <p:cNvPr id="14" name="Shape 11"/>
          <p:cNvSpPr/>
          <p:nvPr/>
        </p:nvSpPr>
        <p:spPr>
          <a:xfrm>
            <a:off x="502920" y="4892040"/>
            <a:ext cx="11155680" cy="868680"/>
          </a:xfrm>
          <a:prstGeom prst="roundRect">
            <a:avLst>
              <a:gd name="adj" fmla="val 10526"/>
            </a:avLst>
          </a:prstGeom>
          <a:solidFill>
            <a:srgbClr val="0B2038"/>
          </a:solidFill>
          <a:ln/>
        </p:spPr>
      </p:sp>
      <p:sp>
        <p:nvSpPr>
          <p:cNvPr id="15" name="Text 12"/>
          <p:cNvSpPr txBox="1"/>
          <p:nvPr/>
        </p:nvSpPr>
        <p:spPr>
          <a:xfrm>
            <a:off x="777240" y="4892040"/>
            <a:ext cx="10607040" cy="868680"/>
          </a:xfrm>
          <a:prstGeom prst="rect">
            <a:avLst/>
          </a:prstGeom>
          <a:noFill/>
          <a:ln/>
        </p:spPr>
        <p:txBody>
          <a:bodyPr wrap="square" lIns="0" tIns="0" rIns="0" bIns="0" rtlCol="0" anchor="ctr"/>
          <a:lstStyle/>
          <a:p>
            <a:pPr indent="0" marL="0">
              <a:lnSpc>
                <a:spcPct val="115000"/>
              </a:lnSpc>
              <a:buNone/>
            </a:pPr>
            <a:r>
              <a:rPr lang="en-US" sz="1350" b="1" dirty="0">
                <a:solidFill>
                  <a:srgbClr val="F2A93B"/>
                </a:solidFill>
                <a:latin typeface="Calibri" pitchFamily="34" charset="0"/>
                <a:ea typeface="Calibri" pitchFamily="34" charset="-122"/>
                <a:cs typeface="Calibri" pitchFamily="34" charset="-120"/>
              </a:rPr>
              <a:t>Reported honestly, not hidden: </a:t>
            </a:r>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this project’s discipline is to report what the numbers say, whether or not it’s the flattering result — sharing a vocabulary turned out to be necessary but not sufficient for this technique to pay off.</a:t>
            </a:r>
            <a:endParaRPr lang="en-US" sz="1350" dirty="0"/>
          </a:p>
        </p:txBody>
      </p:sp>
      <p:sp>
        <p:nvSpPr>
          <p:cNvPr id="16" name="Text 13"/>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TensorRT_plugin — Engineering Results Overview</a:t>
            </a:r>
            <a:endParaRPr lang="en-US" sz="1000" dirty="0"/>
          </a:p>
        </p:txBody>
      </p:sp>
      <p:sp>
        <p:nvSpPr>
          <p:cNvPr id="17" name="Text 14"/>
          <p:cNvSpPr txBox="1"/>
          <p:nvPr/>
        </p:nvSpPr>
        <p:spPr>
          <a:xfrm>
            <a:off x="11460175" y="6446520"/>
            <a:ext cx="4572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038"/>
        </a:solidFill>
      </p:bgPr>
    </p:bg>
    <p:spTree>
      <p:nvGrpSpPr>
        <p:cNvPr id="1" name=""/>
        <p:cNvGrpSpPr/>
        <p:nvPr/>
      </p:nvGrpSpPr>
      <p:grpSpPr>
        <a:xfrm>
          <a:off x="0" y="0"/>
          <a:ext cx="0" cy="0"/>
          <a:chOff x="0" y="0"/>
          <a:chExt cx="0" cy="0"/>
        </a:xfrm>
      </p:grpSpPr>
      <p:sp>
        <p:nvSpPr>
          <p:cNvPr id="2" name="Shape 0"/>
          <p:cNvSpPr/>
          <p:nvPr/>
        </p:nvSpPr>
        <p:spPr>
          <a:xfrm>
            <a:off x="502920" y="502920"/>
            <a:ext cx="566928" cy="566928"/>
          </a:xfrm>
          <a:prstGeom prst="ellipse">
            <a:avLst/>
          </a:prstGeom>
          <a:solidFill>
            <a:srgbClr val="F2A93B"/>
          </a:solidFill>
          <a:ln/>
        </p:spPr>
      </p:sp>
      <p:pic>
        <p:nvPicPr>
          <p:cNvPr id="3" name="Image 0" descr="/tmp/claude-1001/-home-npalmass-work-Evol-inference/a73e848c-9ae9-41bb-8cca-4eccbf875541/scratchpad/tensorrt_deck/icon_check.png">    </p:cNvPr>
          <p:cNvPicPr>
            <a:picLocks noChangeAspect="1"/>
          </p:cNvPicPr>
          <p:nvPr/>
        </p:nvPicPr>
        <p:blipFill>
          <a:blip r:embed="rId1"/>
          <a:stretch>
            <a:fillRect/>
          </a:stretch>
        </p:blipFill>
        <p:spPr>
          <a:xfrm>
            <a:off x="638983" y="638983"/>
            <a:ext cx="294803" cy="294803"/>
          </a:xfrm>
          <a:prstGeom prst="rect">
            <a:avLst/>
          </a:prstGeom>
        </p:spPr>
      </p:pic>
      <p:sp>
        <p:nvSpPr>
          <p:cNvPr id="4" name="Text 1"/>
          <p:cNvSpPr txBox="1"/>
          <p:nvPr/>
        </p:nvSpPr>
        <p:spPr>
          <a:xfrm>
            <a:off x="1252728" y="502920"/>
            <a:ext cx="9144000" cy="256032"/>
          </a:xfrm>
          <a:prstGeom prst="rect">
            <a:avLst/>
          </a:prstGeom>
          <a:noFill/>
          <a:ln/>
        </p:spPr>
        <p:txBody>
          <a:bodyPr wrap="square" lIns="0" tIns="0" rIns="0" bIns="0"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KEY TAKEAWAYS</a:t>
            </a:r>
            <a:endParaRPr lang="en-US" sz="1200" dirty="0"/>
          </a:p>
        </p:txBody>
      </p:sp>
      <p:sp>
        <p:nvSpPr>
          <p:cNvPr id="5" name="Text 2"/>
          <p:cNvSpPr txBox="1"/>
          <p:nvPr/>
        </p:nvSpPr>
        <p:spPr>
          <a:xfrm>
            <a:off x="1252728" y="749808"/>
            <a:ext cx="1005840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This Project Actually Showed</a:t>
            </a:r>
            <a:endParaRPr lang="en-US" sz="2800" dirty="0"/>
          </a:p>
        </p:txBody>
      </p:sp>
      <p:sp>
        <p:nvSpPr>
          <p:cNvPr id="6" name="Shape 3"/>
          <p:cNvSpPr/>
          <p:nvPr/>
        </p:nvSpPr>
        <p:spPr>
          <a:xfrm>
            <a:off x="502920" y="1563624"/>
            <a:ext cx="347472" cy="347472"/>
          </a:xfrm>
          <a:prstGeom prst="ellipse">
            <a:avLst/>
          </a:prstGeom>
          <a:solidFill>
            <a:srgbClr val="F2A93B"/>
          </a:solidFill>
          <a:ln/>
        </p:spPr>
      </p:sp>
      <p:sp>
        <p:nvSpPr>
          <p:cNvPr id="7" name="Text 4"/>
          <p:cNvSpPr txBox="1"/>
          <p:nvPr/>
        </p:nvSpPr>
        <p:spPr>
          <a:xfrm>
            <a:off x="502920" y="1563624"/>
            <a:ext cx="347472" cy="347472"/>
          </a:xfrm>
          <a:prstGeom prst="rect">
            <a:avLst/>
          </a:prstGeom>
          <a:noFill/>
          <a:ln/>
        </p:spPr>
        <p:txBody>
          <a:bodyPr wrap="square" lIns="0" tIns="0" rIns="0" bIns="0" rtlCol="0" anchor="ctr"/>
          <a:lstStyle/>
          <a:p>
            <a:pPr algn="ctr" indent="0" marL="0">
              <a:buNone/>
            </a:pPr>
            <a:r>
              <a:rPr lang="en-US" sz="1500" b="1" dirty="0">
                <a:solidFill>
                  <a:srgbClr val="0B2038"/>
                </a:solidFill>
                <a:latin typeface="Cambria" pitchFamily="34" charset="0"/>
                <a:ea typeface="Cambria" pitchFamily="34" charset="-122"/>
                <a:cs typeface="Cambria" pitchFamily="34" charset="-120"/>
              </a:rPr>
              <a:t>1</a:t>
            </a:r>
            <a:endParaRPr lang="en-US" sz="1500" dirty="0"/>
          </a:p>
        </p:txBody>
      </p:sp>
      <p:sp>
        <p:nvSpPr>
          <p:cNvPr id="8" name="Text 5"/>
          <p:cNvSpPr txBox="1"/>
          <p:nvPr/>
        </p:nvSpPr>
        <p:spPr>
          <a:xfrm>
            <a:off x="1069848" y="1508760"/>
            <a:ext cx="10332720" cy="384048"/>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A thin wrapper adds no real cost</a:t>
            </a:r>
            <a:endParaRPr lang="en-US" sz="1600" dirty="0"/>
          </a:p>
        </p:txBody>
      </p:sp>
      <p:sp>
        <p:nvSpPr>
          <p:cNvPr id="9" name="Text 6"/>
          <p:cNvSpPr txBox="1"/>
          <p:nvPr/>
        </p:nvSpPr>
        <p:spPr>
          <a:xfrm>
            <a:off x="1069848" y="1892808"/>
            <a:ext cx="10332720" cy="457200"/>
          </a:xfrm>
          <a:prstGeom prst="rect">
            <a:avLst/>
          </a:prstGeom>
          <a:noFill/>
          <a:ln/>
        </p:spPr>
        <p:txBody>
          <a:bodyPr wrap="square" lIns="0" tIns="0" rIns="0" bIns="0" rtlCol="0" anchor="t"/>
          <a:lstStyle/>
          <a:p>
            <a:pPr indent="0" marL="0">
              <a:buNone/>
            </a:pPr>
            <a:r>
              <a:rPr lang="en-US" sz="1250" dirty="0">
                <a:solidFill>
                  <a:srgbClr val="C3CEDA"/>
                </a:solidFill>
                <a:latin typeface="Calibri" pitchFamily="34" charset="0"/>
                <a:ea typeface="Calibri" pitchFamily="34" charset="-122"/>
                <a:cs typeface="Calibri" pitchFamily="34" charset="-120"/>
              </a:rPr>
              <a:t>The production TensorRT plugin ties the raw hand-written kernel’s speed, within noise.</a:t>
            </a:r>
            <a:endParaRPr lang="en-US" sz="1250" dirty="0"/>
          </a:p>
        </p:txBody>
      </p:sp>
      <p:sp>
        <p:nvSpPr>
          <p:cNvPr id="10" name="Shape 7"/>
          <p:cNvSpPr/>
          <p:nvPr/>
        </p:nvSpPr>
        <p:spPr>
          <a:xfrm>
            <a:off x="502920" y="2496312"/>
            <a:ext cx="347472" cy="347472"/>
          </a:xfrm>
          <a:prstGeom prst="ellipse">
            <a:avLst/>
          </a:prstGeom>
          <a:solidFill>
            <a:srgbClr val="F2A93B"/>
          </a:solidFill>
          <a:ln/>
        </p:spPr>
      </p:sp>
      <p:sp>
        <p:nvSpPr>
          <p:cNvPr id="11" name="Text 8"/>
          <p:cNvSpPr txBox="1"/>
          <p:nvPr/>
        </p:nvSpPr>
        <p:spPr>
          <a:xfrm>
            <a:off x="502920" y="2496312"/>
            <a:ext cx="347472" cy="347472"/>
          </a:xfrm>
          <a:prstGeom prst="rect">
            <a:avLst/>
          </a:prstGeom>
          <a:noFill/>
          <a:ln/>
        </p:spPr>
        <p:txBody>
          <a:bodyPr wrap="square" lIns="0" tIns="0" rIns="0" bIns="0" rtlCol="0" anchor="ctr"/>
          <a:lstStyle/>
          <a:p>
            <a:pPr algn="ctr" indent="0" marL="0">
              <a:buNone/>
            </a:pPr>
            <a:r>
              <a:rPr lang="en-US" sz="1500" b="1" dirty="0">
                <a:solidFill>
                  <a:srgbClr val="0B2038"/>
                </a:solidFill>
                <a:latin typeface="Cambria" pitchFamily="34" charset="0"/>
                <a:ea typeface="Cambria" pitchFamily="34" charset="-122"/>
                <a:cs typeface="Cambria" pitchFamily="34" charset="-120"/>
              </a:rPr>
              <a:t>2</a:t>
            </a:r>
            <a:endParaRPr lang="en-US" sz="1500" dirty="0"/>
          </a:p>
        </p:txBody>
      </p:sp>
      <p:sp>
        <p:nvSpPr>
          <p:cNvPr id="12" name="Text 9"/>
          <p:cNvSpPr txBox="1"/>
          <p:nvPr/>
        </p:nvSpPr>
        <p:spPr>
          <a:xfrm>
            <a:off x="1069848" y="2441448"/>
            <a:ext cx="10332720" cy="384048"/>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Fixing memory access alone bought 4.3x</a:t>
            </a:r>
            <a:endParaRPr lang="en-US" sz="1600" dirty="0"/>
          </a:p>
        </p:txBody>
      </p:sp>
      <p:sp>
        <p:nvSpPr>
          <p:cNvPr id="13" name="Text 10"/>
          <p:cNvSpPr txBox="1"/>
          <p:nvPr/>
        </p:nvSpPr>
        <p:spPr>
          <a:xfrm>
            <a:off x="1069848" y="2825496"/>
            <a:ext cx="10332720" cy="457200"/>
          </a:xfrm>
          <a:prstGeom prst="rect">
            <a:avLst/>
          </a:prstGeom>
          <a:noFill/>
          <a:ln/>
        </p:spPr>
        <p:txBody>
          <a:bodyPr wrap="square" lIns="0" tIns="0" rIns="0" bIns="0" rtlCol="0" anchor="t"/>
          <a:lstStyle/>
          <a:p>
            <a:pPr indent="0" marL="0">
              <a:buNone/>
            </a:pPr>
            <a:r>
              <a:rPr lang="en-US" sz="1250" dirty="0">
                <a:solidFill>
                  <a:srgbClr val="C3CEDA"/>
                </a:solidFill>
                <a:latin typeface="Calibri" pitchFamily="34" charset="0"/>
                <a:ea typeface="Calibri" pitchFamily="34" charset="-122"/>
                <a:cs typeface="Calibri" pitchFamily="34" charset="-120"/>
              </a:rPr>
              <a:t>From a concrete profiler diagnosis (86% of memory fetches wasted), not a guess.</a:t>
            </a:r>
            <a:endParaRPr lang="en-US" sz="1250" dirty="0"/>
          </a:p>
        </p:txBody>
      </p:sp>
      <p:sp>
        <p:nvSpPr>
          <p:cNvPr id="14" name="Shape 11"/>
          <p:cNvSpPr/>
          <p:nvPr/>
        </p:nvSpPr>
        <p:spPr>
          <a:xfrm>
            <a:off x="502920" y="3429000"/>
            <a:ext cx="347472" cy="347472"/>
          </a:xfrm>
          <a:prstGeom prst="ellipse">
            <a:avLst/>
          </a:prstGeom>
          <a:solidFill>
            <a:srgbClr val="F2A93B"/>
          </a:solidFill>
          <a:ln/>
        </p:spPr>
      </p:sp>
      <p:sp>
        <p:nvSpPr>
          <p:cNvPr id="15" name="Text 12"/>
          <p:cNvSpPr txBox="1"/>
          <p:nvPr/>
        </p:nvSpPr>
        <p:spPr>
          <a:xfrm>
            <a:off x="502920" y="3429000"/>
            <a:ext cx="347472" cy="347472"/>
          </a:xfrm>
          <a:prstGeom prst="rect">
            <a:avLst/>
          </a:prstGeom>
          <a:noFill/>
          <a:ln/>
        </p:spPr>
        <p:txBody>
          <a:bodyPr wrap="square" lIns="0" tIns="0" rIns="0" bIns="0" rtlCol="0" anchor="ctr"/>
          <a:lstStyle/>
          <a:p>
            <a:pPr algn="ctr" indent="0" marL="0">
              <a:buNone/>
            </a:pPr>
            <a:r>
              <a:rPr lang="en-US" sz="1500" b="1" dirty="0">
                <a:solidFill>
                  <a:srgbClr val="0B2038"/>
                </a:solidFill>
                <a:latin typeface="Cambria" pitchFamily="34" charset="0"/>
                <a:ea typeface="Cambria" pitchFamily="34" charset="-122"/>
                <a:cs typeface="Cambria" pitchFamily="34" charset="-120"/>
              </a:rPr>
              <a:t>3</a:t>
            </a:r>
            <a:endParaRPr lang="en-US" sz="1500" dirty="0"/>
          </a:p>
        </p:txBody>
      </p:sp>
      <p:sp>
        <p:nvSpPr>
          <p:cNvPr id="16" name="Text 13"/>
          <p:cNvSpPr txBox="1"/>
          <p:nvPr/>
        </p:nvSpPr>
        <p:spPr>
          <a:xfrm>
            <a:off x="1069848" y="3374136"/>
            <a:ext cx="10332720" cy="384048"/>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Skipping the fused path is consistently the slowest route</a:t>
            </a:r>
            <a:endParaRPr lang="en-US" sz="1600" dirty="0"/>
          </a:p>
        </p:txBody>
      </p:sp>
      <p:sp>
        <p:nvSpPr>
          <p:cNvPr id="17" name="Text 14"/>
          <p:cNvSpPr txBox="1"/>
          <p:nvPr/>
        </p:nvSpPr>
        <p:spPr>
          <a:xfrm>
            <a:off x="1069848" y="3758184"/>
            <a:ext cx="10332720" cy="457200"/>
          </a:xfrm>
          <a:prstGeom prst="rect">
            <a:avLst/>
          </a:prstGeom>
          <a:noFill/>
          <a:ln/>
        </p:spPr>
        <p:txBody>
          <a:bodyPr wrap="square" lIns="0" tIns="0" rIns="0" bIns="0" rtlCol="0" anchor="t"/>
          <a:lstStyle/>
          <a:p>
            <a:pPr indent="0" marL="0">
              <a:buNone/>
            </a:pPr>
            <a:r>
              <a:rPr lang="en-US" sz="1250" dirty="0">
                <a:solidFill>
                  <a:srgbClr val="C3CEDA"/>
                </a:solidFill>
                <a:latin typeface="Calibri" pitchFamily="34" charset="0"/>
                <a:ea typeface="Calibri" pitchFamily="34" charset="-122"/>
                <a:cs typeface="Calibri" pitchFamily="34" charset="-120"/>
              </a:rPr>
              <a:t>Found two separate, independent ways: a vendor-library baseline, and plain PyTorch.</a:t>
            </a:r>
            <a:endParaRPr lang="en-US" sz="1250" dirty="0"/>
          </a:p>
        </p:txBody>
      </p:sp>
      <p:sp>
        <p:nvSpPr>
          <p:cNvPr id="18" name="Shape 15"/>
          <p:cNvSpPr/>
          <p:nvPr/>
        </p:nvSpPr>
        <p:spPr>
          <a:xfrm>
            <a:off x="502920" y="4361688"/>
            <a:ext cx="347472" cy="347472"/>
          </a:xfrm>
          <a:prstGeom prst="ellipse">
            <a:avLst/>
          </a:prstGeom>
          <a:solidFill>
            <a:srgbClr val="F2A93B"/>
          </a:solidFill>
          <a:ln/>
        </p:spPr>
      </p:sp>
      <p:sp>
        <p:nvSpPr>
          <p:cNvPr id="19" name="Text 16"/>
          <p:cNvSpPr txBox="1"/>
          <p:nvPr/>
        </p:nvSpPr>
        <p:spPr>
          <a:xfrm>
            <a:off x="502920" y="4361688"/>
            <a:ext cx="347472" cy="347472"/>
          </a:xfrm>
          <a:prstGeom prst="rect">
            <a:avLst/>
          </a:prstGeom>
          <a:noFill/>
          <a:ln/>
        </p:spPr>
        <p:txBody>
          <a:bodyPr wrap="square" lIns="0" tIns="0" rIns="0" bIns="0" rtlCol="0" anchor="ctr"/>
          <a:lstStyle/>
          <a:p>
            <a:pPr algn="ctr" indent="0" marL="0">
              <a:buNone/>
            </a:pPr>
            <a:r>
              <a:rPr lang="en-US" sz="1500" b="1" dirty="0">
                <a:solidFill>
                  <a:srgbClr val="0B2038"/>
                </a:solidFill>
                <a:latin typeface="Cambria" pitchFamily="34" charset="0"/>
                <a:ea typeface="Cambria" pitchFamily="34" charset="-122"/>
                <a:cs typeface="Cambria" pitchFamily="34" charset="-120"/>
              </a:rPr>
              <a:t>4</a:t>
            </a:r>
            <a:endParaRPr lang="en-US" sz="1500" dirty="0"/>
          </a:p>
        </p:txBody>
      </p:sp>
      <p:sp>
        <p:nvSpPr>
          <p:cNvPr id="20" name="Text 17"/>
          <p:cNvSpPr txBox="1"/>
          <p:nvPr/>
        </p:nvSpPr>
        <p:spPr>
          <a:xfrm>
            <a:off x="1069848" y="4306824"/>
            <a:ext cx="10332720" cy="384048"/>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torch.compile helps, but doesn’t close the gap</a:t>
            </a:r>
            <a:endParaRPr lang="en-US" sz="1600" dirty="0"/>
          </a:p>
        </p:txBody>
      </p:sp>
      <p:sp>
        <p:nvSpPr>
          <p:cNvPr id="21" name="Text 18"/>
          <p:cNvSpPr txBox="1"/>
          <p:nvPr/>
        </p:nvSpPr>
        <p:spPr>
          <a:xfrm>
            <a:off x="1069848" y="4690872"/>
            <a:ext cx="10332720" cy="457200"/>
          </a:xfrm>
          <a:prstGeom prst="rect">
            <a:avLst/>
          </a:prstGeom>
          <a:noFill/>
          <a:ln/>
        </p:spPr>
        <p:txBody>
          <a:bodyPr wrap="square" lIns="0" tIns="0" rIns="0" bIns="0" rtlCol="0" anchor="t"/>
          <a:lstStyle/>
          <a:p>
            <a:pPr indent="0" marL="0">
              <a:buNone/>
            </a:pPr>
            <a:r>
              <a:rPr lang="en-US" sz="1250" dirty="0">
                <a:solidFill>
                  <a:srgbClr val="C3CEDA"/>
                </a:solidFill>
                <a:latin typeface="Calibri" pitchFamily="34" charset="0"/>
                <a:ea typeface="Calibri" pitchFamily="34" charset="-122"/>
                <a:cs typeface="Calibri" pitchFamily="34" charset="-120"/>
              </a:rPr>
              <a:t>Automatic compilation gets partway there; hand-tuned code still wins by ~2x.</a:t>
            </a:r>
            <a:endParaRPr lang="en-US" sz="1250" dirty="0"/>
          </a:p>
        </p:txBody>
      </p:sp>
      <p:sp>
        <p:nvSpPr>
          <p:cNvPr id="22" name="Shape 19"/>
          <p:cNvSpPr/>
          <p:nvPr/>
        </p:nvSpPr>
        <p:spPr>
          <a:xfrm>
            <a:off x="502920" y="5294376"/>
            <a:ext cx="347472" cy="347472"/>
          </a:xfrm>
          <a:prstGeom prst="ellipse">
            <a:avLst/>
          </a:prstGeom>
          <a:solidFill>
            <a:srgbClr val="F2A93B"/>
          </a:solidFill>
          <a:ln/>
        </p:spPr>
      </p:sp>
      <p:sp>
        <p:nvSpPr>
          <p:cNvPr id="23" name="Text 20"/>
          <p:cNvSpPr txBox="1"/>
          <p:nvPr/>
        </p:nvSpPr>
        <p:spPr>
          <a:xfrm>
            <a:off x="502920" y="5294376"/>
            <a:ext cx="347472" cy="347472"/>
          </a:xfrm>
          <a:prstGeom prst="rect">
            <a:avLst/>
          </a:prstGeom>
          <a:noFill/>
          <a:ln/>
        </p:spPr>
        <p:txBody>
          <a:bodyPr wrap="square" lIns="0" tIns="0" rIns="0" bIns="0" rtlCol="0" anchor="ctr"/>
          <a:lstStyle/>
          <a:p>
            <a:pPr algn="ctr" indent="0" marL="0">
              <a:buNone/>
            </a:pPr>
            <a:r>
              <a:rPr lang="en-US" sz="1500" b="1" dirty="0">
                <a:solidFill>
                  <a:srgbClr val="0B2038"/>
                </a:solidFill>
                <a:latin typeface="Cambria" pitchFamily="34" charset="0"/>
                <a:ea typeface="Cambria" pitchFamily="34" charset="-122"/>
                <a:cs typeface="Cambria" pitchFamily="34" charset="-120"/>
              </a:rPr>
              <a:t>5</a:t>
            </a:r>
            <a:endParaRPr lang="en-US" sz="1500" dirty="0"/>
          </a:p>
        </p:txBody>
      </p:sp>
      <p:sp>
        <p:nvSpPr>
          <p:cNvPr id="24" name="Text 21"/>
          <p:cNvSpPr txBox="1"/>
          <p:nvPr/>
        </p:nvSpPr>
        <p:spPr>
          <a:xfrm>
            <a:off x="1069848" y="5239512"/>
            <a:ext cx="10332720" cy="384048"/>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Confirmed end to end, not just in isolation</a:t>
            </a:r>
            <a:endParaRPr lang="en-US" sz="1600" dirty="0"/>
          </a:p>
        </p:txBody>
      </p:sp>
      <p:sp>
        <p:nvSpPr>
          <p:cNvPr id="25" name="Text 22"/>
          <p:cNvSpPr txBox="1"/>
          <p:nvPr/>
        </p:nvSpPr>
        <p:spPr>
          <a:xfrm>
            <a:off x="1069848" y="5623560"/>
            <a:ext cx="10332720" cy="457200"/>
          </a:xfrm>
          <a:prstGeom prst="rect">
            <a:avLst/>
          </a:prstGeom>
          <a:noFill/>
          <a:ln/>
        </p:spPr>
        <p:txBody>
          <a:bodyPr wrap="square" lIns="0" tIns="0" rIns="0" bIns="0" rtlCol="0" anchor="t"/>
          <a:lstStyle/>
          <a:p>
            <a:pPr indent="0" marL="0">
              <a:buNone/>
            </a:pPr>
            <a:r>
              <a:rPr lang="en-US" sz="1250" dirty="0">
                <a:solidFill>
                  <a:srgbClr val="C3CEDA"/>
                </a:solidFill>
                <a:latin typeface="Calibri" pitchFamily="34" charset="0"/>
                <a:ea typeface="Calibri" pitchFamily="34" charset="-122"/>
                <a:cs typeface="Calibri" pitchFamily="34" charset="-120"/>
              </a:rPr>
              <a:t>9.57x survives a full 18-prompt chat benchmark (95% CI 9.15x–9.99x) — concurrent production-scale serving is the next open question.</a:t>
            </a:r>
            <a:endParaRPr lang="en-US" sz="1250" dirty="0"/>
          </a:p>
        </p:txBody>
      </p:sp>
      <p:sp>
        <p:nvSpPr>
          <p:cNvPr id="26" name="Text 23"/>
          <p:cNvSpPr txBox="1"/>
          <p:nvPr/>
        </p:nvSpPr>
        <p:spPr>
          <a:xfrm>
            <a:off x="502920" y="6446520"/>
            <a:ext cx="5486400" cy="274320"/>
          </a:xfrm>
          <a:prstGeom prst="rect">
            <a:avLst/>
          </a:prstGeom>
          <a:noFill/>
          <a:ln/>
        </p:spPr>
        <p:txBody>
          <a:bodyPr wrap="square" lIns="0" tIns="0" rIns="0" bIns="0" rtlCol="0" anchor="ctr"/>
          <a:lstStyle/>
          <a:p>
            <a:pPr indent="0" marL="0">
              <a:buNone/>
            </a:pPr>
            <a:r>
              <a:rPr lang="en-US" sz="1000" dirty="0">
                <a:solidFill>
                  <a:srgbClr val="AEB9C4"/>
                </a:solidFill>
                <a:latin typeface="Calibri" pitchFamily="34" charset="0"/>
                <a:ea typeface="Calibri" pitchFamily="34" charset="-122"/>
                <a:cs typeface="Calibri" pitchFamily="34" charset="-120"/>
              </a:rPr>
              <a:t>TensorRT_plugin — Engineering Results Overview</a:t>
            </a:r>
            <a:endParaRPr lang="en-US" sz="1000" dirty="0"/>
          </a:p>
        </p:txBody>
      </p:sp>
      <p:sp>
        <p:nvSpPr>
          <p:cNvPr id="27" name="Text 24"/>
          <p:cNvSpPr txBox="1"/>
          <p:nvPr/>
        </p:nvSpPr>
        <p:spPr>
          <a:xfrm>
            <a:off x="11460175" y="6446520"/>
            <a:ext cx="457200" cy="274320"/>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2026-09-23T06:49:47Z</dcterms:created>
  <dcterms:modified xsi:type="dcterms:W3CDTF">2026-09-23T06:49:47Z</dcterms:modified>
</cp:coreProperties>
</file>